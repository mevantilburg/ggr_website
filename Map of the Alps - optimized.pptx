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7" r:id="rId2"/>
    <p:sldId id="262" r:id="rId3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B4E"/>
    <a:srgbClr val="FFDD00"/>
    <a:srgbClr val="DC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Stijl, gemiddeld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21"/>
    <p:restoredTop sz="96327"/>
  </p:normalViewPr>
  <p:slideViewPr>
    <p:cSldViewPr snapToGrid="0">
      <p:cViewPr>
        <p:scale>
          <a:sx n="86" d="100"/>
          <a:sy n="86" d="100"/>
        </p:scale>
        <p:origin x="107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C1E2-556D-7A44-AACC-F5A0CF69034A}" type="datetimeFigureOut">
              <a:rPr lang="nl-NL" smtClean="0"/>
              <a:t>05-08-2026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A3DCF-CE34-6542-90F9-F3A45EB409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3894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C1E2-556D-7A44-AACC-F5A0CF69034A}" type="datetimeFigureOut">
              <a:rPr lang="nl-NL" smtClean="0"/>
              <a:t>05-08-2026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A3DCF-CE34-6542-90F9-F3A45EB409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301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C1E2-556D-7A44-AACC-F5A0CF69034A}" type="datetimeFigureOut">
              <a:rPr lang="nl-NL" smtClean="0"/>
              <a:t>05-08-2026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A3DCF-CE34-6542-90F9-F3A45EB409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9808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C1E2-556D-7A44-AACC-F5A0CF69034A}" type="datetimeFigureOut">
              <a:rPr lang="nl-NL" smtClean="0"/>
              <a:t>05-08-2026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A3DCF-CE34-6542-90F9-F3A45EB409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2398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C1E2-556D-7A44-AACC-F5A0CF69034A}" type="datetimeFigureOut">
              <a:rPr lang="nl-NL" smtClean="0"/>
              <a:t>05-08-2026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A3DCF-CE34-6542-90F9-F3A45EB409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41719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C1E2-556D-7A44-AACC-F5A0CF69034A}" type="datetimeFigureOut">
              <a:rPr lang="nl-NL" smtClean="0"/>
              <a:t>05-08-2026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A3DCF-CE34-6542-90F9-F3A45EB409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0187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C1E2-556D-7A44-AACC-F5A0CF69034A}" type="datetimeFigureOut">
              <a:rPr lang="nl-NL" smtClean="0"/>
              <a:t>05-08-2026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A3DCF-CE34-6542-90F9-F3A45EB409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708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C1E2-556D-7A44-AACC-F5A0CF69034A}" type="datetimeFigureOut">
              <a:rPr lang="nl-NL" smtClean="0"/>
              <a:t>05-08-2026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A3DCF-CE34-6542-90F9-F3A45EB409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9399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C1E2-556D-7A44-AACC-F5A0CF69034A}" type="datetimeFigureOut">
              <a:rPr lang="nl-NL" smtClean="0"/>
              <a:t>05-08-2026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A3DCF-CE34-6542-90F9-F3A45EB409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8613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C1E2-556D-7A44-AACC-F5A0CF69034A}" type="datetimeFigureOut">
              <a:rPr lang="nl-NL" smtClean="0"/>
              <a:t>05-08-2026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A3DCF-CE34-6542-90F9-F3A45EB409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6815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C1E2-556D-7A44-AACC-F5A0CF69034A}" type="datetimeFigureOut">
              <a:rPr lang="nl-NL" smtClean="0"/>
              <a:t>05-08-2026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A3DCF-CE34-6542-90F9-F3A45EB409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83707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C1E2-556D-7A44-AACC-F5A0CF69034A}" type="datetimeFigureOut">
              <a:rPr lang="nl-NL" smtClean="0"/>
              <a:t>05-08-2026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9A3DCF-CE34-6542-90F9-F3A45EB409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3546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8.jpg"/><Relationship Id="rId12" Type="http://schemas.openxmlformats.org/officeDocument/2006/relationships/image" Target="../media/image1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jpe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20.jpg"/><Relationship Id="rId11" Type="http://schemas.openxmlformats.org/officeDocument/2006/relationships/image" Target="../media/image21.jpg"/><Relationship Id="rId12" Type="http://schemas.openxmlformats.org/officeDocument/2006/relationships/image" Target="../media/image22.jpg"/><Relationship Id="rId13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hoek 21">
            <a:extLst>
              <a:ext uri="{FF2B5EF4-FFF2-40B4-BE49-F238E27FC236}">
                <a16:creationId xmlns:a16="http://schemas.microsoft.com/office/drawing/2014/main" id="{C085BBF8-BCCE-9163-2B3E-F0862DA747DD}"/>
              </a:ext>
            </a:extLst>
          </p:cNvPr>
          <p:cNvSpPr/>
          <p:nvPr/>
        </p:nvSpPr>
        <p:spPr>
          <a:xfrm>
            <a:off x="-6693" y="0"/>
            <a:ext cx="3174582" cy="960120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4DBCE35D-9EE2-A45E-978C-B56F15804787}"/>
              </a:ext>
            </a:extLst>
          </p:cNvPr>
          <p:cNvCxnSpPr>
            <a:cxnSpLocks/>
          </p:cNvCxnSpPr>
          <p:nvPr/>
        </p:nvCxnSpPr>
        <p:spPr>
          <a:xfrm>
            <a:off x="6386872" y="73470"/>
            <a:ext cx="0" cy="944137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3920996F-5988-D529-24E1-3C43981363C8}"/>
              </a:ext>
            </a:extLst>
          </p:cNvPr>
          <p:cNvCxnSpPr>
            <a:cxnSpLocks/>
          </p:cNvCxnSpPr>
          <p:nvPr/>
        </p:nvCxnSpPr>
        <p:spPr>
          <a:xfrm>
            <a:off x="0" y="4807125"/>
            <a:ext cx="1270616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F9E30D1A-D801-CE65-8A07-3784AEE6A5F8}"/>
              </a:ext>
            </a:extLst>
          </p:cNvPr>
          <p:cNvCxnSpPr>
            <a:cxnSpLocks/>
          </p:cNvCxnSpPr>
          <p:nvPr/>
        </p:nvCxnSpPr>
        <p:spPr>
          <a:xfrm>
            <a:off x="9590872" y="97277"/>
            <a:ext cx="0" cy="944137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7D938049-388E-1420-29DC-4E66BD394476}"/>
              </a:ext>
            </a:extLst>
          </p:cNvPr>
          <p:cNvCxnSpPr>
            <a:cxnSpLocks/>
          </p:cNvCxnSpPr>
          <p:nvPr/>
        </p:nvCxnSpPr>
        <p:spPr>
          <a:xfrm>
            <a:off x="3167888" y="35895"/>
            <a:ext cx="0" cy="944137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hthoek 15">
            <a:extLst>
              <a:ext uri="{FF2B5EF4-FFF2-40B4-BE49-F238E27FC236}">
                <a16:creationId xmlns:a16="http://schemas.microsoft.com/office/drawing/2014/main" id="{07AE40FA-F629-CD08-46A7-CFA0250B4CB2}"/>
              </a:ext>
            </a:extLst>
          </p:cNvPr>
          <p:cNvSpPr/>
          <p:nvPr/>
        </p:nvSpPr>
        <p:spPr>
          <a:xfrm>
            <a:off x="40701" y="80520"/>
            <a:ext cx="12706160" cy="9434324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352"/>
          </a:p>
        </p:txBody>
      </p:sp>
      <p:pic>
        <p:nvPicPr>
          <p:cNvPr id="21" name="Afbeelding 20" descr="Afbeelding met tekst, schermopname, kaart, Lettertype&#10;&#10;Automatisch gegenereerde beschrijving">
            <a:extLst>
              <a:ext uri="{FF2B5EF4-FFF2-40B4-BE49-F238E27FC236}">
                <a16:creationId xmlns:a16="http://schemas.microsoft.com/office/drawing/2014/main" id="{1986B6D4-0091-12FD-1ECB-4861A99E9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153149" y="80520"/>
            <a:ext cx="3504378" cy="4794184"/>
          </a:xfrm>
          <a:prstGeom prst="rect">
            <a:avLst/>
          </a:prstGeom>
        </p:spPr>
      </p:pic>
      <p:sp>
        <p:nvSpPr>
          <p:cNvPr id="28" name="Rechthoek 27">
            <a:extLst>
              <a:ext uri="{FF2B5EF4-FFF2-40B4-BE49-F238E27FC236}">
                <a16:creationId xmlns:a16="http://schemas.microsoft.com/office/drawing/2014/main" id="{7FF790A3-496D-7D92-6A60-6813457A8818}"/>
              </a:ext>
            </a:extLst>
          </p:cNvPr>
          <p:cNvSpPr/>
          <p:nvPr/>
        </p:nvSpPr>
        <p:spPr>
          <a:xfrm>
            <a:off x="3182033" y="95243"/>
            <a:ext cx="3204000" cy="1423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>
                <a:solidFill>
                  <a:srgbClr val="F26B4E"/>
                </a:solidFill>
                <a:latin typeface="Rockwell" panose="02060603020205020403" pitchFamily="18" charset="77"/>
              </a:rPr>
              <a:t>Our climate is changing.</a:t>
            </a:r>
          </a:p>
          <a:p>
            <a:pPr algn="ctr"/>
            <a:r>
              <a:rPr lang="en-GB" dirty="0">
                <a:solidFill>
                  <a:srgbClr val="F26B4E"/>
                </a:solidFill>
                <a:latin typeface="Rockwell" panose="02060603020205020403" pitchFamily="18" charset="77"/>
              </a:rPr>
              <a:t>Faster than we think.</a:t>
            </a:r>
          </a:p>
        </p:txBody>
      </p:sp>
      <p:sp>
        <p:nvSpPr>
          <p:cNvPr id="29" name="Rechthoek 28">
            <a:extLst>
              <a:ext uri="{FF2B5EF4-FFF2-40B4-BE49-F238E27FC236}">
                <a16:creationId xmlns:a16="http://schemas.microsoft.com/office/drawing/2014/main" id="{40E9E34C-C3FD-824C-AE85-6794621B5814}"/>
              </a:ext>
            </a:extLst>
          </p:cNvPr>
          <p:cNvSpPr/>
          <p:nvPr/>
        </p:nvSpPr>
        <p:spPr>
          <a:xfrm>
            <a:off x="6353080" y="73469"/>
            <a:ext cx="3204000" cy="946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>
                <a:solidFill>
                  <a:srgbClr val="F26B4E"/>
                </a:solidFill>
                <a:latin typeface="Rockwell" panose="02060603020205020403" pitchFamily="18" charset="77"/>
              </a:rPr>
              <a:t>Europe is the fastest warming continent. </a:t>
            </a:r>
          </a:p>
          <a:p>
            <a:pPr algn="ctr"/>
            <a:r>
              <a:rPr lang="en-GB" dirty="0">
                <a:solidFill>
                  <a:srgbClr val="F26B4E"/>
                </a:solidFill>
                <a:latin typeface="Rockwell" panose="02060603020205020403" pitchFamily="18" charset="77"/>
              </a:rPr>
              <a:t>This affects the Alps.</a:t>
            </a: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645879F3-F124-D307-571E-B84D597C973E}"/>
              </a:ext>
            </a:extLst>
          </p:cNvPr>
          <p:cNvSpPr/>
          <p:nvPr/>
        </p:nvSpPr>
        <p:spPr>
          <a:xfrm>
            <a:off x="9559757" y="90261"/>
            <a:ext cx="3204000" cy="1092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 sz="1500">
                <a:solidFill>
                  <a:srgbClr val="F26B4E"/>
                </a:solidFill>
                <a:latin typeface="Rockwell" panose="02060603020205020403" pitchFamily="18" charset="77"/>
              </a:rPr>
              <a:t>The challenge is bigger than the Alps. It’s about our only home.</a:t>
            </a:r>
          </a:p>
        </p:txBody>
      </p:sp>
      <p:sp>
        <p:nvSpPr>
          <p:cNvPr id="33" name="Rechthoek 32">
            <a:extLst>
              <a:ext uri="{FF2B5EF4-FFF2-40B4-BE49-F238E27FC236}">
                <a16:creationId xmlns:a16="http://schemas.microsoft.com/office/drawing/2014/main" id="{A2C70528-313D-65CD-E67C-B0DA04865A99}"/>
              </a:ext>
            </a:extLst>
          </p:cNvPr>
          <p:cNvSpPr/>
          <p:nvPr/>
        </p:nvSpPr>
        <p:spPr>
          <a:xfrm>
            <a:off x="9583562" y="8460429"/>
            <a:ext cx="3204000" cy="7205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>
                <a:solidFill>
                  <a:srgbClr val="F26B4E"/>
                </a:solidFill>
                <a:latin typeface="Rockwell" panose="02060603020205020403" pitchFamily="18" charset="77"/>
              </a:rPr>
              <a:t>Did you ever think of cleaning up your own emissions?</a:t>
            </a:r>
          </a:p>
        </p:txBody>
      </p:sp>
      <p:pic>
        <p:nvPicPr>
          <p:cNvPr id="48" name="Afbeelding 47">
            <a:extLst>
              <a:ext uri="{FF2B5EF4-FFF2-40B4-BE49-F238E27FC236}">
                <a16:creationId xmlns:a16="http://schemas.microsoft.com/office/drawing/2014/main" id="{E05C305E-D5A5-8604-CE2E-38F9FF450EA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0673" b="10719"/>
          <a:stretch/>
        </p:blipFill>
        <p:spPr>
          <a:xfrm>
            <a:off x="3208591" y="1042799"/>
            <a:ext cx="2123206" cy="2161419"/>
          </a:xfrm>
          <a:prstGeom prst="rect">
            <a:avLst/>
          </a:prstGeom>
        </p:spPr>
      </p:pic>
      <p:sp>
        <p:nvSpPr>
          <p:cNvPr id="49" name="Rechthoek 48">
            <a:extLst>
              <a:ext uri="{FF2B5EF4-FFF2-40B4-BE49-F238E27FC236}">
                <a16:creationId xmlns:a16="http://schemas.microsoft.com/office/drawing/2014/main" id="{C7670E9C-3E0F-B1B0-9C18-D771DDED1FB4}"/>
              </a:ext>
            </a:extLst>
          </p:cNvPr>
          <p:cNvSpPr/>
          <p:nvPr/>
        </p:nvSpPr>
        <p:spPr>
          <a:xfrm>
            <a:off x="128756" y="4807125"/>
            <a:ext cx="553640" cy="740979"/>
          </a:xfrm>
          <a:prstGeom prst="rect">
            <a:avLst/>
          </a:prstGeom>
          <a:solidFill>
            <a:srgbClr val="1E41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3600" dirty="0">
                <a:latin typeface="Graph FF Condensed Black" pitchFamily="34" charset="0"/>
              </a:rPr>
              <a:t>26</a:t>
            </a:r>
            <a:endParaRPr lang="nl-NL" dirty="0">
              <a:latin typeface="Graph FF Condensed Black" pitchFamily="34" charset="0"/>
            </a:endParaRPr>
          </a:p>
        </p:txBody>
      </p:sp>
      <p:pic>
        <p:nvPicPr>
          <p:cNvPr id="50" name="Picture 10" descr="ggr_badge_cropped.png">
            <a:extLst>
              <a:ext uri="{FF2B5EF4-FFF2-40B4-BE49-F238E27FC236}">
                <a16:creationId xmlns:a16="http://schemas.microsoft.com/office/drawing/2014/main" id="{665A087B-9911-5A03-3022-DB3D3975A9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5548" y="4911810"/>
            <a:ext cx="583616" cy="583616"/>
          </a:xfrm>
          <a:prstGeom prst="rect">
            <a:avLst/>
          </a:prstGeom>
        </p:spPr>
      </p:pic>
      <p:sp>
        <p:nvSpPr>
          <p:cNvPr id="51" name="Tekstvak 50">
            <a:extLst>
              <a:ext uri="{FF2B5EF4-FFF2-40B4-BE49-F238E27FC236}">
                <a16:creationId xmlns:a16="http://schemas.microsoft.com/office/drawing/2014/main" id="{592FB4A5-BE9C-0BA0-C1D3-6BF0B2D124D3}"/>
              </a:ext>
            </a:extLst>
          </p:cNvPr>
          <p:cNvSpPr txBox="1"/>
          <p:nvPr/>
        </p:nvSpPr>
        <p:spPr>
          <a:xfrm>
            <a:off x="-21967" y="5734026"/>
            <a:ext cx="3204000" cy="385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i="0" dirty="0">
                <a:solidFill>
                  <a:srgbClr val="17324E"/>
                </a:solidFill>
                <a:effectLst/>
                <a:latin typeface="Rockwell" panose="02060603020205020403" pitchFamily="18" charset="77"/>
              </a:rPr>
              <a:t>While we cycle the</a:t>
            </a:r>
          </a:p>
          <a:p>
            <a:pPr algn="ctr"/>
            <a:r>
              <a:rPr lang="en-GB" b="1" i="0" dirty="0">
                <a:solidFill>
                  <a:srgbClr val="17324E"/>
                </a:solidFill>
                <a:effectLst/>
                <a:latin typeface="Rockwell" panose="02060603020205020403" pitchFamily="18" charset="77"/>
              </a:rPr>
              <a:t>Glorious</a:t>
            </a:r>
            <a:r>
              <a:rPr lang="en-GB" b="1" dirty="0">
                <a:solidFill>
                  <a:srgbClr val="17324E"/>
                </a:solidFill>
                <a:latin typeface="Rockwell" panose="02060603020205020403" pitchFamily="18" charset="77"/>
              </a:rPr>
              <a:t> </a:t>
            </a:r>
            <a:r>
              <a:rPr lang="en-GB" b="1" i="0" dirty="0">
                <a:solidFill>
                  <a:srgbClr val="17324E"/>
                </a:solidFill>
                <a:effectLst/>
                <a:latin typeface="Rockwell" panose="02060603020205020403" pitchFamily="18" charset="77"/>
              </a:rPr>
              <a:t>Glacier</a:t>
            </a:r>
            <a:r>
              <a:rPr lang="en-GB" b="1" dirty="0">
                <a:solidFill>
                  <a:srgbClr val="17324E"/>
                </a:solidFill>
                <a:latin typeface="Rockwell" panose="02060603020205020403" pitchFamily="18" charset="77"/>
              </a:rPr>
              <a:t> Ride,</a:t>
            </a:r>
          </a:p>
          <a:p>
            <a:pPr algn="ctr"/>
            <a:endParaRPr lang="en-GB" sz="1050" b="1" dirty="0">
              <a:solidFill>
                <a:srgbClr val="17324E"/>
              </a:solidFill>
              <a:latin typeface="Rockwell" panose="02060603020205020403" pitchFamily="18" charset="77"/>
            </a:endParaRPr>
          </a:p>
          <a:p>
            <a:pPr algn="ctr"/>
            <a:r>
              <a:rPr lang="en-GB" b="1" dirty="0">
                <a:solidFill>
                  <a:srgbClr val="17324E"/>
                </a:solidFill>
                <a:latin typeface="Rockwell" panose="02060603020205020403" pitchFamily="18" charset="77"/>
              </a:rPr>
              <a:t>You can support us and clean up your emissions!</a:t>
            </a:r>
          </a:p>
          <a:p>
            <a:pPr algn="ctr"/>
            <a:endParaRPr lang="en-GB" b="1" dirty="0">
              <a:solidFill>
                <a:srgbClr val="17324E"/>
              </a:solidFill>
              <a:latin typeface="Rockwell" panose="02060603020205020403" pitchFamily="18" charset="77"/>
            </a:endParaRPr>
          </a:p>
          <a:p>
            <a:pPr algn="ctr"/>
            <a:endParaRPr lang="en-GB" b="1" dirty="0">
              <a:solidFill>
                <a:srgbClr val="17324E"/>
              </a:solidFill>
              <a:latin typeface="Rockwell" panose="02060603020205020403" pitchFamily="18" charset="77"/>
            </a:endParaRPr>
          </a:p>
          <a:p>
            <a:pPr algn="ctr"/>
            <a:endParaRPr lang="en-GB" b="1" dirty="0">
              <a:solidFill>
                <a:srgbClr val="17324E"/>
              </a:solidFill>
              <a:latin typeface="Rockwell" panose="02060603020205020403" pitchFamily="18" charset="77"/>
            </a:endParaRPr>
          </a:p>
          <a:p>
            <a:pPr algn="ctr"/>
            <a:endParaRPr lang="en-GB" b="1" dirty="0">
              <a:solidFill>
                <a:srgbClr val="17324E"/>
              </a:solidFill>
              <a:latin typeface="Rockwell" panose="02060603020205020403" pitchFamily="18" charset="77"/>
            </a:endParaRPr>
          </a:p>
          <a:p>
            <a:pPr algn="ctr"/>
            <a:endParaRPr lang="en-GB" b="1" dirty="0">
              <a:solidFill>
                <a:srgbClr val="17324E"/>
              </a:solidFill>
              <a:latin typeface="Rockwell" panose="02060603020205020403" pitchFamily="18" charset="77"/>
            </a:endParaRPr>
          </a:p>
          <a:p>
            <a:pPr algn="ctr"/>
            <a:endParaRPr lang="en-GB" b="1" dirty="0">
              <a:solidFill>
                <a:srgbClr val="17324E"/>
              </a:solidFill>
              <a:latin typeface="Rockwell" panose="02060603020205020403" pitchFamily="18" charset="77"/>
            </a:endParaRPr>
          </a:p>
          <a:p>
            <a:pPr algn="ctr"/>
            <a:endParaRPr lang="en-GB" b="1" dirty="0">
              <a:solidFill>
                <a:srgbClr val="17324E"/>
              </a:solidFill>
              <a:latin typeface="Rockwell" panose="02060603020205020403" pitchFamily="18" charset="77"/>
            </a:endParaRPr>
          </a:p>
          <a:p>
            <a:pPr algn="ctr"/>
            <a:r>
              <a:rPr lang="en-GB" b="1" dirty="0">
                <a:solidFill>
                  <a:srgbClr val="17324E"/>
                </a:solidFill>
                <a:latin typeface="Rockwell" panose="02060603020205020403" pitchFamily="18" charset="77"/>
              </a:rPr>
              <a:t>THANK YOU FOR YOUR LEADERSHIP!</a:t>
            </a:r>
          </a:p>
        </p:txBody>
      </p:sp>
      <p:pic>
        <p:nvPicPr>
          <p:cNvPr id="52" name="Afbeelding 51" descr="Afbeelding met patroon, plein, pixel, kruiswoordpuzzel&#10;&#10;Automatisch gegenereerde beschrijving">
            <a:extLst>
              <a:ext uri="{FF2B5EF4-FFF2-40B4-BE49-F238E27FC236}">
                <a16:creationId xmlns:a16="http://schemas.microsoft.com/office/drawing/2014/main" id="{0E85BF0E-87D4-1048-87BE-2075C113A0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136" y="7126868"/>
            <a:ext cx="1734504" cy="1763412"/>
          </a:xfrm>
          <a:prstGeom prst="rect">
            <a:avLst/>
          </a:prstGeom>
        </p:spPr>
      </p:pic>
      <p:sp>
        <p:nvSpPr>
          <p:cNvPr id="54" name="Rechthoek 53">
            <a:extLst>
              <a:ext uri="{FF2B5EF4-FFF2-40B4-BE49-F238E27FC236}">
                <a16:creationId xmlns:a16="http://schemas.microsoft.com/office/drawing/2014/main" id="{24E54A4F-F345-2227-CFD4-19FE7CEF7E68}"/>
              </a:ext>
            </a:extLst>
          </p:cNvPr>
          <p:cNvSpPr/>
          <p:nvPr/>
        </p:nvSpPr>
        <p:spPr>
          <a:xfrm>
            <a:off x="3567660" y="2123508"/>
            <a:ext cx="1811532" cy="991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3" name="Afbeelding 52">
            <a:extLst>
              <a:ext uri="{FF2B5EF4-FFF2-40B4-BE49-F238E27FC236}">
                <a16:creationId xmlns:a16="http://schemas.microsoft.com/office/drawing/2014/main" id="{AEAA75C0-C850-7D46-C8E0-5308CB7482A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1378"/>
          <a:stretch/>
        </p:blipFill>
        <p:spPr>
          <a:xfrm>
            <a:off x="3567660" y="1037190"/>
            <a:ext cx="2092879" cy="2420912"/>
          </a:xfrm>
          <a:prstGeom prst="rect">
            <a:avLst/>
          </a:prstGeom>
        </p:spPr>
      </p:pic>
      <p:sp>
        <p:nvSpPr>
          <p:cNvPr id="55" name="Rechthoek 54">
            <a:extLst>
              <a:ext uri="{FF2B5EF4-FFF2-40B4-BE49-F238E27FC236}">
                <a16:creationId xmlns:a16="http://schemas.microsoft.com/office/drawing/2014/main" id="{F8E49D38-09EF-C277-6D6C-772DC273ADB0}"/>
              </a:ext>
            </a:extLst>
          </p:cNvPr>
          <p:cNvSpPr/>
          <p:nvPr/>
        </p:nvSpPr>
        <p:spPr>
          <a:xfrm>
            <a:off x="3531788" y="3684641"/>
            <a:ext cx="5782353" cy="445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>
                <a:solidFill>
                  <a:srgbClr val="F26B4E"/>
                </a:solidFill>
                <a:latin typeface="Rockwell" panose="02060603020205020403" pitchFamily="18" charset="77"/>
              </a:rPr>
              <a:t>Real problem: People don’t know what’s effective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36930" y="1202906"/>
            <a:ext cx="165796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324E"/>
                </a:solidFill>
                <a:latin typeface="Rockwell"/>
              </a:rPr>
              <a:t>Temperature increases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324E"/>
                </a:solidFill>
                <a:latin typeface="Rockwell"/>
              </a:rPr>
              <a:t>in the 20th century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31362" y="1641818"/>
            <a:ext cx="2743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3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91712" y="2024203"/>
            <a:ext cx="153619" cy="715808"/>
          </a:xfrm>
          <a:prstGeom prst="roundRect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13074" y="2584564"/>
            <a:ext cx="310896" cy="310896"/>
          </a:xfrm>
          <a:prstGeom prst="ellipse">
            <a:avLst/>
          </a:prstGeom>
          <a:solidFill>
            <a:srgbClr val="F26B4E"/>
          </a:solidFill>
          <a:ln w="15875">
            <a:solidFill>
              <a:srgbClr val="173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5602" y="1768171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7324E"/>
                </a:solidFill>
                <a:latin typeface="Calibri"/>
              </a:rPr>
              <a:t>+1.4°C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65602" y="2911005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7324E"/>
                </a:solidFill>
                <a:latin typeface="Calibri"/>
              </a:rPr>
              <a:t>France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27706" y="1641818"/>
            <a:ext cx="2743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3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888056" y="1737414"/>
            <a:ext cx="153619" cy="1002598"/>
          </a:xfrm>
          <a:prstGeom prst="roundRect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809418" y="2584564"/>
            <a:ext cx="310896" cy="310896"/>
          </a:xfrm>
          <a:prstGeom prst="ellipse">
            <a:avLst/>
          </a:prstGeom>
          <a:solidFill>
            <a:srgbClr val="F26B4E"/>
          </a:solidFill>
          <a:ln w="15875">
            <a:solidFill>
              <a:srgbClr val="173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61946" y="148138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7324E"/>
                </a:solidFill>
                <a:latin typeface="Calibri"/>
              </a:rPr>
              <a:t>+2.0°C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61946" y="2911005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7324E"/>
                </a:solidFill>
                <a:latin typeface="Calibri"/>
              </a:rPr>
              <a:t>Alps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5682" y="1957286"/>
            <a:ext cx="422024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6B4E"/>
                </a:solidFill>
                <a:latin typeface="Rockwell"/>
              </a:rPr>
              <a:t>1.4x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08057" y="1134807"/>
            <a:ext cx="15623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324E"/>
                </a:solidFill>
                <a:latin typeface="Rockwell"/>
              </a:rPr>
              <a:t>Alpine glaciers: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324E"/>
                </a:solidFill>
                <a:latin typeface="Rockwell"/>
              </a:rPr>
              <a:t>volume lost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76764" y="1518855"/>
            <a:ext cx="531201" cy="446641"/>
          </a:xfrm>
          <a:prstGeom prst="rect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376764" y="1965496"/>
            <a:ext cx="531201" cy="297761"/>
          </a:xfrm>
          <a:prstGeom prst="rect">
            <a:avLst/>
          </a:prstGeom>
          <a:solidFill>
            <a:srgbClr val="17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376764" y="2263257"/>
            <a:ext cx="531201" cy="744402"/>
          </a:xfrm>
          <a:prstGeom prst="rect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08057" y="1454846"/>
            <a:ext cx="44127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6078"/>
                </a:solidFill>
                <a:latin typeface="Calibri"/>
              </a:rPr>
              <a:t>1900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08057" y="1901488"/>
            <a:ext cx="44127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6078"/>
                </a:solidFill>
                <a:latin typeface="Calibri"/>
              </a:rPr>
              <a:t>1980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08057" y="2199249"/>
            <a:ext cx="44127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6078"/>
                </a:solidFill>
                <a:latin typeface="Calibri"/>
              </a:rPr>
              <a:t>2020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08057" y="2943652"/>
            <a:ext cx="44127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6078"/>
                </a:solidFill>
                <a:latin typeface="Calibri"/>
              </a:rPr>
              <a:t>2100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53685" y="1652847"/>
            <a:ext cx="516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26B4E"/>
                </a:solidFill>
                <a:latin typeface="Calibri"/>
              </a:rPr>
              <a:t>−30%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26B4E"/>
                </a:solidFill>
                <a:latin typeface="Calibri"/>
              </a:rPr>
              <a:t>by 1980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53685" y="2010160"/>
            <a:ext cx="516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7324E"/>
                </a:solidFill>
                <a:latin typeface="Calibri"/>
              </a:rPr>
              <a:t>−20%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7324E"/>
                </a:solidFill>
                <a:latin typeface="Calibri"/>
              </a:rPr>
              <a:t>since 1980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53685" y="2449358"/>
            <a:ext cx="5167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35782"/>
                </a:solidFill>
                <a:latin typeface="Calibri"/>
              </a:rPr>
              <a:t>50%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35782"/>
                </a:solidFill>
                <a:latin typeface="Calibri"/>
              </a:rPr>
              <a:t>remains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76764" y="3172252"/>
            <a:ext cx="10936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4A6078"/>
                </a:solidFill>
                <a:latin typeface="Calibri"/>
              </a:rPr>
              <a:t>Most could be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4A6078"/>
                </a:solidFill>
                <a:latin typeface="Calibri"/>
              </a:rPr>
              <a:t>gone by 2100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41552" y="1134807"/>
            <a:ext cx="14452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7324E"/>
                </a:solidFill>
                <a:latin typeface="Rockwell"/>
              </a:rPr>
              <a:t>Mer de Glace glacier, France</a:t>
            </a:r>
          </a:p>
        </p:txBody>
      </p:sp>
      <p:pic>
        <p:nvPicPr>
          <p:cNvPr id="81" name="Picture 80" descr="mdg_before191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2443" y="1409127"/>
            <a:ext cx="1383500" cy="685432"/>
          </a:xfrm>
          <a:prstGeom prst="rect">
            <a:avLst/>
          </a:prstGeom>
        </p:spPr>
      </p:pic>
      <p:pic>
        <p:nvPicPr>
          <p:cNvPr id="82" name="Picture 81" descr="mdg_2023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72443" y="2140279"/>
            <a:ext cx="1383500" cy="105026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295846" y="4140629"/>
            <a:ext cx="376039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Rockwell"/>
              </a:rPr>
              <a:t>Reducing emissions: what actually works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95846" y="4433236"/>
            <a:ext cx="91440" cy="91440"/>
          </a:xfrm>
          <a:prstGeom prst="rect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23862" y="4414949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26B4E"/>
                </a:solidFill>
                <a:latin typeface="Calibri"/>
              </a:rPr>
              <a:t>What people think is effective (%)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95846" y="4597829"/>
            <a:ext cx="91440" cy="91440"/>
          </a:xfrm>
          <a:prstGeom prst="rect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23862" y="4579540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35782"/>
                </a:solidFill>
                <a:latin typeface="Calibri"/>
              </a:rPr>
              <a:t>What's actually effective (t CO₂ saved/yr)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71567" y="5772758"/>
            <a:ext cx="141014" cy="379337"/>
          </a:xfrm>
          <a:prstGeom prst="rect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549158" y="4835573"/>
            <a:ext cx="141014" cy="1316523"/>
          </a:xfrm>
          <a:prstGeom prst="rect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25847" y="5626454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26B4E"/>
                </a:solidFill>
                <a:latin typeface="Calibri"/>
              </a:rPr>
              <a:t>17%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03438" y="4689269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235782"/>
                </a:solidFill>
                <a:latin typeface="Calibri"/>
              </a:rPr>
              <a:t>2.4t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95846" y="6188672"/>
            <a:ext cx="47004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7324E"/>
                </a:solidFill>
                <a:latin typeface="Calibri"/>
              </a:rPr>
              <a:t>Go car-free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841617" y="5839700"/>
            <a:ext cx="141014" cy="312395"/>
          </a:xfrm>
          <a:prstGeom prst="rect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019208" y="4945283"/>
            <a:ext cx="141014" cy="1206812"/>
          </a:xfrm>
          <a:prstGeom prst="rect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95897" y="5693396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26B4E"/>
                </a:solidFill>
                <a:latin typeface="Calibri"/>
              </a:rPr>
              <a:t>14%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73488" y="4798979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235782"/>
                </a:solidFill>
                <a:latin typeface="Calibri"/>
              </a:rPr>
              <a:t>2.2t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65895" y="6188672"/>
            <a:ext cx="47004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7324E"/>
                </a:solidFill>
                <a:latin typeface="Calibri"/>
              </a:rPr>
              <a:t>Plant-based diet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11667" y="5683503"/>
            <a:ext cx="141014" cy="468592"/>
          </a:xfrm>
          <a:prstGeom prst="rect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489258" y="5274413"/>
            <a:ext cx="141014" cy="877682"/>
          </a:xfrm>
          <a:prstGeom prst="rect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65947" y="5537199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26B4E"/>
                </a:solidFill>
                <a:latin typeface="Calibri"/>
              </a:rPr>
              <a:t>21%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43538" y="5128109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235782"/>
                </a:solidFill>
                <a:latin typeface="Calibri"/>
              </a:rPr>
              <a:t>1.6t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35945" y="6188672"/>
            <a:ext cx="47004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7324E"/>
                </a:solidFill>
                <a:latin typeface="Calibri"/>
              </a:rPr>
              <a:t>Avoid transatlantic flight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781716" y="5058712"/>
            <a:ext cx="141014" cy="1093383"/>
          </a:xfrm>
          <a:prstGeom prst="rect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959307" y="5329269"/>
            <a:ext cx="141014" cy="822826"/>
          </a:xfrm>
          <a:prstGeom prst="rect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35996" y="4912408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26B4E"/>
                </a:solidFill>
                <a:latin typeface="Calibri"/>
              </a:rPr>
              <a:t>49%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913587" y="5182965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235782"/>
                </a:solidFill>
                <a:latin typeface="Calibri"/>
              </a:rPr>
              <a:t>1.5t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05994" y="6188672"/>
            <a:ext cx="47004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7324E"/>
                </a:solidFill>
                <a:latin typeface="Calibri"/>
              </a:rPr>
              <a:t>Buy green energy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251766" y="5237224"/>
            <a:ext cx="141014" cy="914871"/>
          </a:xfrm>
          <a:prstGeom prst="rect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29357" y="5493834"/>
            <a:ext cx="141014" cy="658261"/>
          </a:xfrm>
          <a:prstGeom prst="rect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206046" y="5090920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26B4E"/>
                </a:solidFill>
                <a:latin typeface="Calibri"/>
              </a:rPr>
              <a:t>41%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383637" y="5347530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235782"/>
                </a:solidFill>
                <a:latin typeface="Calibri"/>
              </a:rPr>
              <a:t>1.2t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176044" y="6188672"/>
            <a:ext cx="47004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7324E"/>
                </a:solidFill>
                <a:latin typeface="Calibri"/>
              </a:rPr>
              <a:t>Switch to electric car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721816" y="5571933"/>
            <a:ext cx="141014" cy="580162"/>
          </a:xfrm>
          <a:prstGeom prst="rect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899407" y="6042385"/>
            <a:ext cx="141014" cy="109710"/>
          </a:xfrm>
          <a:prstGeom prst="rect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76096" y="5425629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26B4E"/>
                </a:solidFill>
                <a:latin typeface="Calibri"/>
              </a:rPr>
              <a:t>26%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853687" y="5896081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235782"/>
                </a:solidFill>
                <a:latin typeface="Calibri"/>
              </a:rPr>
              <a:t>0.2t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46094" y="6188672"/>
            <a:ext cx="47004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7324E"/>
                </a:solidFill>
                <a:latin typeface="Calibri"/>
              </a:rPr>
              <a:t>Hand-dry clothing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91865" y="4835573"/>
            <a:ext cx="141014" cy="1316523"/>
          </a:xfrm>
          <a:prstGeom prst="rect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369456" y="6042385"/>
            <a:ext cx="141014" cy="109710"/>
          </a:xfrm>
          <a:prstGeom prst="rect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146145" y="4689269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26B4E"/>
                </a:solidFill>
                <a:latin typeface="Calibri"/>
              </a:rPr>
              <a:t>59%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323736" y="5896081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235782"/>
                </a:solidFill>
                <a:latin typeface="Calibri"/>
              </a:rPr>
              <a:t>0.2t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16143" y="6188672"/>
            <a:ext cx="47004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7324E"/>
                </a:solidFill>
                <a:latin typeface="Calibri"/>
              </a:rPr>
              <a:t>Recycle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61915" y="5348793"/>
            <a:ext cx="141014" cy="803302"/>
          </a:xfrm>
          <a:prstGeom prst="rect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839506" y="6097240"/>
            <a:ext cx="141014" cy="54855"/>
          </a:xfrm>
          <a:prstGeom prst="rect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616195" y="5202489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26B4E"/>
                </a:solidFill>
                <a:latin typeface="Calibri"/>
              </a:rPr>
              <a:t>36%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793786" y="5950936"/>
            <a:ext cx="2324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235782"/>
                </a:solidFill>
                <a:latin typeface="Calibri"/>
              </a:rPr>
              <a:t>0.1t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586193" y="6188672"/>
            <a:ext cx="47004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7324E"/>
                </a:solidFill>
                <a:latin typeface="Calibri"/>
              </a:rPr>
              <a:t>Upgrade light bulbs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95846" y="6517856"/>
            <a:ext cx="376039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1">
                <a:solidFill>
                  <a:srgbClr val="4A6078"/>
                </a:solidFill>
                <a:latin typeface="Calibri"/>
              </a:rPr>
              <a:t>Most people overrate recycling and light bulbs — and underrate cutting flights and driving.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2275" y="4140629"/>
            <a:ext cx="209803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324E"/>
                </a:solidFill>
                <a:latin typeface="Rockwell"/>
              </a:rPr>
              <a:t>Thinking beyond ourselves: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324E"/>
                </a:solidFill>
                <a:latin typeface="Rockwell"/>
              </a:rPr>
              <a:t>actions that influence system change</a:t>
            </a:r>
          </a:p>
        </p:txBody>
      </p:sp>
      <p:sp>
        <p:nvSpPr>
          <p:cNvPr id="130" name="Oval 129"/>
          <p:cNvSpPr/>
          <p:nvPr/>
        </p:nvSpPr>
        <p:spPr>
          <a:xfrm>
            <a:off x="7312275" y="4579541"/>
            <a:ext cx="274320" cy="274320"/>
          </a:xfrm>
          <a:prstGeom prst="ellipse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7364396" y="4683782"/>
            <a:ext cx="170078" cy="658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696323" y="4542965"/>
            <a:ext cx="1713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7324E"/>
                </a:solidFill>
                <a:latin typeface="Calibri"/>
              </a:rPr>
              <a:t>Making lifestyle choices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7324E"/>
                </a:solidFill>
                <a:latin typeface="Calibri"/>
              </a:rPr>
              <a:t>that influence the market</a:t>
            </a:r>
          </a:p>
        </p:txBody>
      </p:sp>
      <p:sp>
        <p:nvSpPr>
          <p:cNvPr id="133" name="Oval 132"/>
          <p:cNvSpPr/>
          <p:nvPr/>
        </p:nvSpPr>
        <p:spPr>
          <a:xfrm>
            <a:off x="7312275" y="4981877"/>
            <a:ext cx="274320" cy="274320"/>
          </a:xfrm>
          <a:prstGeom prst="ellipse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372625" y="5031254"/>
            <a:ext cx="16459" cy="1700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Isosceles Triangle 134"/>
          <p:cNvSpPr/>
          <p:nvPr/>
        </p:nvSpPr>
        <p:spPr>
          <a:xfrm rot="5400000">
            <a:off x="7389084" y="5031254"/>
            <a:ext cx="93268" cy="65836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96323" y="4945301"/>
            <a:ext cx="1713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7324E"/>
                </a:solidFill>
                <a:latin typeface="Calibri"/>
              </a:rPr>
              <a:t>Political action</a:t>
            </a:r>
          </a:p>
        </p:txBody>
      </p:sp>
      <p:sp>
        <p:nvSpPr>
          <p:cNvPr id="137" name="Oval 136"/>
          <p:cNvSpPr/>
          <p:nvPr/>
        </p:nvSpPr>
        <p:spPr>
          <a:xfrm>
            <a:off x="7312275" y="5384213"/>
            <a:ext cx="274320" cy="274320"/>
          </a:xfrm>
          <a:prstGeom prst="ellipse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7437090" y="5433590"/>
            <a:ext cx="24688" cy="246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7354794" y="5559777"/>
            <a:ext cx="24688" cy="246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7519386" y="5559777"/>
            <a:ext cx="24688" cy="246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7427215" y="5499153"/>
            <a:ext cx="44439" cy="444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696323" y="5347637"/>
            <a:ext cx="1713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7324E"/>
                </a:solidFill>
                <a:latin typeface="Calibri"/>
              </a:rPr>
              <a:t>Leveraging your influence</a:t>
            </a:r>
          </a:p>
        </p:txBody>
      </p:sp>
      <p:sp>
        <p:nvSpPr>
          <p:cNvPr id="143" name="Oval 142"/>
          <p:cNvSpPr/>
          <p:nvPr/>
        </p:nvSpPr>
        <p:spPr>
          <a:xfrm>
            <a:off x="7312275" y="5786549"/>
            <a:ext cx="274320" cy="274320"/>
          </a:xfrm>
          <a:prstGeom prst="ellipse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ardrop 143"/>
          <p:cNvSpPr/>
          <p:nvPr/>
        </p:nvSpPr>
        <p:spPr>
          <a:xfrm>
            <a:off x="7408287" y="5835926"/>
            <a:ext cx="82296" cy="109728"/>
          </a:xfrm>
          <a:prstGeom prst="teardrop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696323" y="5749973"/>
            <a:ext cx="1713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7324E"/>
                </a:solidFill>
                <a:latin typeface="Calibri"/>
              </a:rPr>
              <a:t>Donating to the most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7324E"/>
                </a:solidFill>
                <a:latin typeface="Calibri"/>
              </a:rPr>
              <a:t>effective climate charities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312275" y="6243749"/>
            <a:ext cx="20980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4A6078"/>
                </a:solidFill>
                <a:latin typeface="Calibri"/>
              </a:rPr>
              <a:t>Donations are most powerful when paired with lifestyle changes — a chance to do more, not an excuse to do nothing.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328490" y="6661634"/>
            <a:ext cx="231519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324E"/>
                </a:solidFill>
                <a:latin typeface="Rockwell"/>
              </a:rPr>
              <a:t>The impact of a plant-based diet</a:t>
            </a:r>
          </a:p>
        </p:txBody>
      </p:sp>
      <p:sp>
        <p:nvSpPr>
          <p:cNvPr id="148" name="Oval 147"/>
          <p:cNvSpPr/>
          <p:nvPr/>
        </p:nvSpPr>
        <p:spPr>
          <a:xfrm>
            <a:off x="3328490" y="7082258"/>
            <a:ext cx="713232" cy="713232"/>
          </a:xfrm>
          <a:prstGeom prst="ellipse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328490" y="7082258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ckwell"/>
              </a:rPr>
              <a:t>22%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169738" y="7063970"/>
            <a:ext cx="1473949" cy="7401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7324E"/>
                </a:solidFill>
                <a:latin typeface="Calibri"/>
              </a:rPr>
              <a:t>of people halving their meat consumption would save the equivalent of 95% of aviation's emissions.</a:t>
            </a:r>
          </a:p>
        </p:txBody>
      </p:sp>
      <p:sp>
        <p:nvSpPr>
          <p:cNvPr id="151" name="Oval 150"/>
          <p:cNvSpPr/>
          <p:nvPr/>
        </p:nvSpPr>
        <p:spPr>
          <a:xfrm>
            <a:off x="3328490" y="7877305"/>
            <a:ext cx="713232" cy="713232"/>
          </a:xfrm>
          <a:prstGeom prst="ellipse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328490" y="7877305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ckwell"/>
              </a:rPr>
              <a:t>2×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169738" y="7859017"/>
            <a:ext cx="1473949" cy="7401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7324E"/>
                </a:solidFill>
                <a:latin typeface="Calibri"/>
              </a:rPr>
              <a:t>the area of India in farmland would be freed up if everyone halved their meat consumption.</a:t>
            </a:r>
          </a:p>
        </p:txBody>
      </p:sp>
      <p:sp>
        <p:nvSpPr>
          <p:cNvPr id="154" name="Oval 153"/>
          <p:cNvSpPr/>
          <p:nvPr/>
        </p:nvSpPr>
        <p:spPr>
          <a:xfrm>
            <a:off x="3328490" y="8672352"/>
            <a:ext cx="713232" cy="713232"/>
          </a:xfrm>
          <a:prstGeom prst="ellipse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328490" y="8672352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ckwell"/>
              </a:rPr>
              <a:t>25%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169738" y="8654064"/>
            <a:ext cx="1473949" cy="7401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7324E"/>
                </a:solidFill>
                <a:latin typeface="Calibri"/>
              </a:rPr>
              <a:t>of current global emissions could be mitigated by reforesting that freed-up land.</a:t>
            </a:r>
          </a:p>
        </p:txBody>
      </p:sp>
    </p:spTree>
    <p:extLst>
      <p:ext uri="{BB962C8B-B14F-4D97-AF65-F5344CB8AC3E}">
        <p14:creationId xmlns:p14="http://schemas.microsoft.com/office/powerpoint/2010/main" val="3774133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 descr="Afbeelding met Perceel&#10;&#10;Automatisch gegenereerde beschrijving">
            <a:extLst>
              <a:ext uri="{FF2B5EF4-FFF2-40B4-BE49-F238E27FC236}">
                <a16:creationId xmlns:a16="http://schemas.microsoft.com/office/drawing/2014/main" id="{CA91DC3E-9C6B-15A6-1339-932E8BAA6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900" y="8515757"/>
            <a:ext cx="5122334" cy="1034644"/>
          </a:xfrm>
          <a:prstGeom prst="rect">
            <a:avLst/>
          </a:prstGeom>
        </p:spPr>
      </p:pic>
      <p:pic>
        <p:nvPicPr>
          <p:cNvPr id="12" name="Afbeelding 11" descr="Afbeelding met tekst, kaart, atlas&#10;&#10;Automatisch gegenereerde beschrijving">
            <a:extLst>
              <a:ext uri="{FF2B5EF4-FFF2-40B4-BE49-F238E27FC236}">
                <a16:creationId xmlns:a16="http://schemas.microsoft.com/office/drawing/2014/main" id="{32C1E92F-20D1-17EB-23F0-DB62F95788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77"/>
          <a:stretch/>
        </p:blipFill>
        <p:spPr>
          <a:xfrm>
            <a:off x="0" y="1471273"/>
            <a:ext cx="12801600" cy="6719106"/>
          </a:xfrm>
          <a:prstGeom prst="rect">
            <a:avLst/>
          </a:prstGeom>
        </p:spPr>
      </p:pic>
      <p:graphicFrame>
        <p:nvGraphicFramePr>
          <p:cNvPr id="10" name="Tabel 9">
            <a:extLst>
              <a:ext uri="{FF2B5EF4-FFF2-40B4-BE49-F238E27FC236}">
                <a16:creationId xmlns:a16="http://schemas.microsoft.com/office/drawing/2014/main" id="{1A3FC3F1-FC26-C1B0-859F-7B9F1EBF8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42602"/>
              </p:ext>
            </p:extLst>
          </p:nvPr>
        </p:nvGraphicFramePr>
        <p:xfrm>
          <a:off x="3822038" y="8367558"/>
          <a:ext cx="3498060" cy="1089080"/>
        </p:xfrm>
        <a:graphic>
          <a:graphicData uri="http://schemas.openxmlformats.org/drawingml/2006/table">
            <a:tbl>
              <a:tblPr/>
              <a:tblGrid>
                <a:gridCol w="538590">
                  <a:extLst>
                    <a:ext uri="{9D8B030D-6E8A-4147-A177-3AD203B41FA5}">
                      <a16:colId xmlns:a16="http://schemas.microsoft.com/office/drawing/2014/main" val="3995960750"/>
                    </a:ext>
                  </a:extLst>
                </a:gridCol>
                <a:gridCol w="860634">
                  <a:extLst>
                    <a:ext uri="{9D8B030D-6E8A-4147-A177-3AD203B41FA5}">
                      <a16:colId xmlns:a16="http://schemas.microsoft.com/office/drawing/2014/main" val="2512980234"/>
                    </a:ext>
                  </a:extLst>
                </a:gridCol>
                <a:gridCol w="699612">
                  <a:extLst>
                    <a:ext uri="{9D8B030D-6E8A-4147-A177-3AD203B41FA5}">
                      <a16:colId xmlns:a16="http://schemas.microsoft.com/office/drawing/2014/main" val="3588738809"/>
                    </a:ext>
                  </a:extLst>
                </a:gridCol>
                <a:gridCol w="699612">
                  <a:extLst>
                    <a:ext uri="{9D8B030D-6E8A-4147-A177-3AD203B41FA5}">
                      <a16:colId xmlns:a16="http://schemas.microsoft.com/office/drawing/2014/main" val="2116765321"/>
                    </a:ext>
                  </a:extLst>
                </a:gridCol>
                <a:gridCol w="699612">
                  <a:extLst>
                    <a:ext uri="{9D8B030D-6E8A-4147-A177-3AD203B41FA5}">
                      <a16:colId xmlns:a16="http://schemas.microsoft.com/office/drawing/2014/main" val="869517486"/>
                    </a:ext>
                  </a:extLst>
                </a:gridCol>
              </a:tblGrid>
              <a:tr h="185077"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b="1" noProof="0">
                          <a:solidFill>
                            <a:schemeClr val="bg1"/>
                          </a:solidFill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Date</a:t>
                      </a:r>
                      <a:endParaRPr lang="en-GB" sz="1050" b="1" noProof="0" dirty="0">
                        <a:solidFill>
                          <a:schemeClr val="bg1"/>
                        </a:solidFill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b="1" noProof="0">
                          <a:solidFill>
                            <a:schemeClr val="bg1"/>
                          </a:solidFill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Start</a:t>
                      </a:r>
                      <a:endParaRPr lang="en-GB" sz="1050" b="1" noProof="0" dirty="0">
                        <a:solidFill>
                          <a:schemeClr val="bg1"/>
                        </a:solidFill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b="1" noProof="0">
                          <a:solidFill>
                            <a:schemeClr val="bg1"/>
                          </a:solidFill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Finish</a:t>
                      </a:r>
                      <a:endParaRPr lang="en-GB" sz="1050" b="1" noProof="0" dirty="0">
                        <a:solidFill>
                          <a:schemeClr val="bg1"/>
                        </a:solidFill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b="1" noProof="0">
                          <a:solidFill>
                            <a:schemeClr val="bg1"/>
                          </a:solidFill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Distance</a:t>
                      </a:r>
                      <a:endParaRPr lang="en-GB" sz="1050" b="1" noProof="0" dirty="0">
                        <a:solidFill>
                          <a:schemeClr val="bg1"/>
                        </a:solidFill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b="1" noProof="0">
                          <a:solidFill>
                            <a:schemeClr val="bg1"/>
                          </a:solidFill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Elevation</a:t>
                      </a:r>
                      <a:endParaRPr lang="en-GB" sz="1050" b="1" noProof="0" dirty="0">
                        <a:solidFill>
                          <a:schemeClr val="bg1"/>
                        </a:solidFill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821803"/>
                  </a:ext>
                </a:extLst>
              </a:tr>
              <a:tr h="185077"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 1 Sep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Andermatt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Unterbäch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105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2100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655897"/>
                  </a:ext>
                </a:extLst>
              </a:tr>
              <a:tr h="221496"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 2 Sep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 dirty="0" err="1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Restday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9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251434"/>
                  </a:ext>
                </a:extLst>
              </a:tr>
              <a:tr h="221496"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 3 Sep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 dirty="0" err="1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Unterbäch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Aigle - UCI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96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2500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406004"/>
                  </a:ext>
                </a:extLst>
              </a:tr>
              <a:tr h="221496"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 4 Sep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 dirty="0" err="1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Aigle</a:t>
                      </a:r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 - UCI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Chamonix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95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1990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871103"/>
                  </a:ext>
                </a:extLst>
              </a:tr>
            </a:tbl>
          </a:graphicData>
        </a:graphic>
      </p:graphicFrame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2AD5367F-04BA-DE0B-F69C-82AB95A4D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686458"/>
              </p:ext>
            </p:extLst>
          </p:nvPr>
        </p:nvGraphicFramePr>
        <p:xfrm>
          <a:off x="176473" y="8373720"/>
          <a:ext cx="3498060" cy="1072133"/>
        </p:xfrm>
        <a:graphic>
          <a:graphicData uri="http://schemas.openxmlformats.org/drawingml/2006/table">
            <a:tbl>
              <a:tblPr/>
              <a:tblGrid>
                <a:gridCol w="538590">
                  <a:extLst>
                    <a:ext uri="{9D8B030D-6E8A-4147-A177-3AD203B41FA5}">
                      <a16:colId xmlns:a16="http://schemas.microsoft.com/office/drawing/2014/main" val="3995960750"/>
                    </a:ext>
                  </a:extLst>
                </a:gridCol>
                <a:gridCol w="860634">
                  <a:extLst>
                    <a:ext uri="{9D8B030D-6E8A-4147-A177-3AD203B41FA5}">
                      <a16:colId xmlns:a16="http://schemas.microsoft.com/office/drawing/2014/main" val="2512980234"/>
                    </a:ext>
                  </a:extLst>
                </a:gridCol>
                <a:gridCol w="699612">
                  <a:extLst>
                    <a:ext uri="{9D8B030D-6E8A-4147-A177-3AD203B41FA5}">
                      <a16:colId xmlns:a16="http://schemas.microsoft.com/office/drawing/2014/main" val="3588738809"/>
                    </a:ext>
                  </a:extLst>
                </a:gridCol>
                <a:gridCol w="699612">
                  <a:extLst>
                    <a:ext uri="{9D8B030D-6E8A-4147-A177-3AD203B41FA5}">
                      <a16:colId xmlns:a16="http://schemas.microsoft.com/office/drawing/2014/main" val="2116765321"/>
                    </a:ext>
                  </a:extLst>
                </a:gridCol>
                <a:gridCol w="699612">
                  <a:extLst>
                    <a:ext uri="{9D8B030D-6E8A-4147-A177-3AD203B41FA5}">
                      <a16:colId xmlns:a16="http://schemas.microsoft.com/office/drawing/2014/main" val="869517486"/>
                    </a:ext>
                  </a:extLst>
                </a:gridCol>
              </a:tblGrid>
              <a:tr h="188961"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b="1" noProof="0">
                          <a:solidFill>
                            <a:schemeClr val="bg1"/>
                          </a:solidFill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Date</a:t>
                      </a:r>
                      <a:endParaRPr lang="en-GB" sz="1050" b="1" noProof="0" dirty="0">
                        <a:solidFill>
                          <a:schemeClr val="bg1"/>
                        </a:solidFill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b="1" noProof="0">
                          <a:solidFill>
                            <a:schemeClr val="bg1"/>
                          </a:solidFill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Start</a:t>
                      </a:r>
                      <a:endParaRPr lang="en-GB" sz="1050" b="1" noProof="0" dirty="0">
                        <a:solidFill>
                          <a:schemeClr val="bg1"/>
                        </a:solidFill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b="1" noProof="0">
                          <a:solidFill>
                            <a:schemeClr val="bg1"/>
                          </a:solidFill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Finish</a:t>
                      </a:r>
                      <a:endParaRPr lang="en-GB" sz="1050" b="1" noProof="0" dirty="0">
                        <a:solidFill>
                          <a:schemeClr val="bg1"/>
                        </a:solidFill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b="1" noProof="0">
                          <a:solidFill>
                            <a:schemeClr val="bg1"/>
                          </a:solidFill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Distance</a:t>
                      </a:r>
                      <a:endParaRPr lang="en-GB" sz="1050" b="1" noProof="0" dirty="0">
                        <a:solidFill>
                          <a:schemeClr val="bg1"/>
                        </a:solidFill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b="1" noProof="0">
                          <a:solidFill>
                            <a:schemeClr val="bg1"/>
                          </a:solidFill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Elevation</a:t>
                      </a:r>
                      <a:endParaRPr lang="en-GB" sz="1050" b="1" noProof="0" dirty="0">
                        <a:solidFill>
                          <a:schemeClr val="bg1"/>
                        </a:solidFill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821803"/>
                  </a:ext>
                </a:extLst>
              </a:tr>
              <a:tr h="215847"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28 Aug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Innsbruck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Nauders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131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2000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339580"/>
                  </a:ext>
                </a:extLst>
              </a:tr>
              <a:tr h="215847"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29 Aug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4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Nauders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4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Livigno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4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118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4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3400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4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225981"/>
                  </a:ext>
                </a:extLst>
              </a:tr>
              <a:tr h="188961"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30 Aug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Livigno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 dirty="0" err="1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Thusis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110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2000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26977"/>
                  </a:ext>
                </a:extLst>
              </a:tr>
              <a:tr h="215847"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31 Aug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Thusis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Andermatt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noProof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101</a:t>
                      </a:r>
                      <a:endParaRPr lang="en-GB" sz="1050" noProof="0" dirty="0">
                        <a:effectLst/>
                        <a:latin typeface="Jost Medium" pitchFamily="2" charset="77"/>
                        <a:ea typeface="Jost Medium" pitchFamily="2" charset="77"/>
                      </a:endParaRP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50" noProof="0" dirty="0">
                          <a:effectLst/>
                          <a:latin typeface="Jost Medium" pitchFamily="2" charset="77"/>
                          <a:ea typeface="Jost Medium" pitchFamily="2" charset="77"/>
                        </a:rPr>
                        <a:t>2500</a:t>
                      </a:r>
                    </a:p>
                  </a:txBody>
                  <a:tcPr marL="26138" marR="26138" marT="26138" marB="261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551819"/>
                  </a:ext>
                </a:extLst>
              </a:tr>
            </a:tbl>
          </a:graphicData>
        </a:graphic>
      </p:graphicFrame>
      <p:sp>
        <p:nvSpPr>
          <p:cNvPr id="14" name="Tekstvak 13">
            <a:extLst>
              <a:ext uri="{FF2B5EF4-FFF2-40B4-BE49-F238E27FC236}">
                <a16:creationId xmlns:a16="http://schemas.microsoft.com/office/drawing/2014/main" id="{85296A0C-AA1E-D55F-C53C-38C1CBE0A90C}"/>
              </a:ext>
            </a:extLst>
          </p:cNvPr>
          <p:cNvSpPr txBox="1"/>
          <p:nvPr/>
        </p:nvSpPr>
        <p:spPr>
          <a:xfrm>
            <a:off x="11463865" y="2370666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b="1" u="sng" dirty="0">
                <a:latin typeface="Jost SemiBold" pitchFamily="2" charset="77"/>
                <a:ea typeface="Jost SemiBold" pitchFamily="2" charset="77"/>
              </a:rPr>
              <a:t>Innsbruck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6C4325DE-88F7-8FBA-7FCC-77DAC075C518}"/>
              </a:ext>
            </a:extLst>
          </p:cNvPr>
          <p:cNvSpPr txBox="1"/>
          <p:nvPr/>
        </p:nvSpPr>
        <p:spPr>
          <a:xfrm>
            <a:off x="176473" y="7298092"/>
            <a:ext cx="1208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b="1" u="sng" dirty="0">
                <a:latin typeface="Jost SemiBold" pitchFamily="2" charset="77"/>
                <a:ea typeface="Jost SemiBold" pitchFamily="2" charset="77"/>
              </a:rPr>
              <a:t>Chamonix </a:t>
            </a:r>
          </a:p>
          <a:p>
            <a:r>
              <a:rPr lang="nl-NL" sz="1600" b="1" u="sng" dirty="0" err="1">
                <a:latin typeface="Jost SemiBold" pitchFamily="2" charset="77"/>
                <a:ea typeface="Jost SemiBold" pitchFamily="2" charset="77"/>
              </a:rPr>
              <a:t>Mont-Blanc</a:t>
            </a:r>
            <a:endParaRPr lang="nl-NL" sz="1600" b="1" u="sng" dirty="0">
              <a:latin typeface="Jost SemiBold" pitchFamily="2" charset="77"/>
              <a:ea typeface="Jost SemiBold" pitchFamily="2" charset="77"/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2847FD12-90CE-22AF-2F6B-D121B41B3BAC}"/>
              </a:ext>
            </a:extLst>
          </p:cNvPr>
          <p:cNvSpPr txBox="1"/>
          <p:nvPr/>
        </p:nvSpPr>
        <p:spPr>
          <a:xfrm>
            <a:off x="823462" y="5600981"/>
            <a:ext cx="543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u="sng" dirty="0" err="1">
                <a:latin typeface="Jost Medium" pitchFamily="2" charset="77"/>
                <a:ea typeface="Jost Medium" pitchFamily="2" charset="77"/>
              </a:rPr>
              <a:t>Aigle</a:t>
            </a:r>
            <a:endParaRPr lang="nl-NL" sz="1200" u="sng" dirty="0">
              <a:latin typeface="Jost Medium" pitchFamily="2" charset="77"/>
              <a:ea typeface="Jost Medium" pitchFamily="2" charset="77"/>
            </a:endParaRP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EAFB7862-63BE-FF4F-A0F5-332D0F53B71B}"/>
              </a:ext>
            </a:extLst>
          </p:cNvPr>
          <p:cNvSpPr txBox="1"/>
          <p:nvPr/>
        </p:nvSpPr>
        <p:spPr>
          <a:xfrm>
            <a:off x="8867576" y="473510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u="sng" dirty="0" err="1">
                <a:latin typeface="Jost Medium" pitchFamily="2" charset="77"/>
                <a:ea typeface="Jost Medium" pitchFamily="2" charset="77"/>
              </a:rPr>
              <a:t>Livigno</a:t>
            </a:r>
            <a:endParaRPr lang="nl-NL" sz="1200" u="sng" dirty="0">
              <a:latin typeface="Jost Medium" pitchFamily="2" charset="77"/>
              <a:ea typeface="Jost Medium" pitchFamily="2" charset="77"/>
            </a:endParaRP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6E6542CA-DA99-5652-D953-2FA3F016ABFB}"/>
              </a:ext>
            </a:extLst>
          </p:cNvPr>
          <p:cNvSpPr txBox="1"/>
          <p:nvPr/>
        </p:nvSpPr>
        <p:spPr>
          <a:xfrm>
            <a:off x="9769477" y="3542606"/>
            <a:ext cx="7633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u="sng" dirty="0" err="1">
                <a:latin typeface="Jost Medium" pitchFamily="2" charset="77"/>
                <a:ea typeface="Jost Medium" pitchFamily="2" charset="77"/>
              </a:rPr>
              <a:t>Nauders</a:t>
            </a:r>
            <a:endParaRPr lang="nl-NL" sz="1200" u="sng" dirty="0">
              <a:latin typeface="Jost Medium" pitchFamily="2" charset="77"/>
              <a:ea typeface="Jost Medium" pitchFamily="2" charset="77"/>
            </a:endParaRP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623A1CEC-EFAC-709B-E554-2A67E7AAD71F}"/>
              </a:ext>
            </a:extLst>
          </p:cNvPr>
          <p:cNvSpPr txBox="1"/>
          <p:nvPr/>
        </p:nvSpPr>
        <p:spPr>
          <a:xfrm>
            <a:off x="7068967" y="4210095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u="sng" dirty="0" err="1">
                <a:latin typeface="Jost Medium" pitchFamily="2" charset="77"/>
                <a:ea typeface="Jost Medium" pitchFamily="2" charset="77"/>
              </a:rPr>
              <a:t>Thusis</a:t>
            </a:r>
            <a:endParaRPr lang="nl-NL" sz="1200" u="sng" dirty="0">
              <a:latin typeface="Jost Medium" pitchFamily="2" charset="77"/>
              <a:ea typeface="Jost Medium" pitchFamily="2" charset="77"/>
            </a:endParaRP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490E4464-35C0-80DC-8998-C9B8D9CDE76C}"/>
              </a:ext>
            </a:extLst>
          </p:cNvPr>
          <p:cNvSpPr txBox="1"/>
          <p:nvPr/>
        </p:nvSpPr>
        <p:spPr>
          <a:xfrm>
            <a:off x="4670503" y="4709832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u="sng" dirty="0" err="1">
                <a:latin typeface="Jost Medium" pitchFamily="2" charset="77"/>
                <a:ea typeface="Jost Medium" pitchFamily="2" charset="77"/>
              </a:rPr>
              <a:t>Andermatt</a:t>
            </a:r>
            <a:endParaRPr lang="nl-NL" sz="1200" u="sng" dirty="0">
              <a:latin typeface="Jost Medium" pitchFamily="2" charset="77"/>
              <a:ea typeface="Jost Medium" pitchFamily="2" charset="77"/>
            </a:endParaRP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DE23C331-7A0B-D60E-6D1E-EC53B4BCEBA8}"/>
              </a:ext>
            </a:extLst>
          </p:cNvPr>
          <p:cNvSpPr txBox="1"/>
          <p:nvPr/>
        </p:nvSpPr>
        <p:spPr>
          <a:xfrm>
            <a:off x="2968206" y="5839519"/>
            <a:ext cx="878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u="sng" dirty="0" err="1">
                <a:latin typeface="Jost Medium" pitchFamily="2" charset="77"/>
                <a:ea typeface="Jost Medium" pitchFamily="2" charset="77"/>
              </a:rPr>
              <a:t>Unterbäch</a:t>
            </a:r>
            <a:endParaRPr lang="nl-NL" sz="1200" u="sng" dirty="0">
              <a:latin typeface="Jost Medium" pitchFamily="2" charset="77"/>
              <a:ea typeface="Jost Medium" pitchFamily="2" charset="77"/>
            </a:endParaRP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9B9B63F0-E7CE-AB3D-47B4-005E521896E8}"/>
              </a:ext>
            </a:extLst>
          </p:cNvPr>
          <p:cNvSpPr txBox="1"/>
          <p:nvPr/>
        </p:nvSpPr>
        <p:spPr>
          <a:xfrm>
            <a:off x="2902468" y="6653072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dirty="0" err="1">
                <a:latin typeface="Jost Medium" pitchFamily="2" charset="77"/>
                <a:ea typeface="Jost Medium" pitchFamily="2" charset="77"/>
              </a:rPr>
              <a:t>Zermatt</a:t>
            </a:r>
            <a:endParaRPr lang="nl-NL" sz="1200" dirty="0">
              <a:latin typeface="Jost Medium" pitchFamily="2" charset="77"/>
              <a:ea typeface="Jost Medium" pitchFamily="2" charset="77"/>
            </a:endParaRPr>
          </a:p>
        </p:txBody>
      </p:sp>
      <p:sp>
        <p:nvSpPr>
          <p:cNvPr id="24" name="AutoShape 4">
            <a:extLst>
              <a:ext uri="{FF2B5EF4-FFF2-40B4-BE49-F238E27FC236}">
                <a16:creationId xmlns:a16="http://schemas.microsoft.com/office/drawing/2014/main" id="{14846A10-0942-3514-14DB-5F9E742604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4648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918DF1A3-8763-099A-0798-C2DB0103F590}"/>
              </a:ext>
            </a:extLst>
          </p:cNvPr>
          <p:cNvGrpSpPr/>
          <p:nvPr/>
        </p:nvGrpSpPr>
        <p:grpSpPr>
          <a:xfrm>
            <a:off x="5063937" y="-167033"/>
            <a:ext cx="2706976" cy="2706976"/>
            <a:chOff x="8740130" y="3450542"/>
            <a:chExt cx="1880560" cy="1880560"/>
          </a:xfrm>
        </p:grpSpPr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A9C7BBF8-4A2D-734E-F947-224D48743248}"/>
                </a:ext>
              </a:extLst>
            </p:cNvPr>
            <p:cNvSpPr/>
            <p:nvPr/>
          </p:nvSpPr>
          <p:spPr>
            <a:xfrm>
              <a:off x="8925075" y="3635487"/>
              <a:ext cx="1510671" cy="151067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7" name="Afbeelding 26" descr="Afbeelding met logo, Graphics, grafische vormgeving, Lettertype&#10;&#10;Automatisch gegenereerde beschrijving">
              <a:extLst>
                <a:ext uri="{FF2B5EF4-FFF2-40B4-BE49-F238E27FC236}">
                  <a16:creationId xmlns:a16="http://schemas.microsoft.com/office/drawing/2014/main" id="{0BB7AF08-7578-9CFB-3FC6-96DBC444B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40130" y="3450542"/>
              <a:ext cx="1880560" cy="188056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28" name="Google Shape;368;g3c7f500df15_0_1">
            <a:extLst>
              <a:ext uri="{FF2B5EF4-FFF2-40B4-BE49-F238E27FC236}">
                <a16:creationId xmlns:a16="http://schemas.microsoft.com/office/drawing/2014/main" id="{84B5FF33-A105-9A8C-09F5-AF554A13E53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03239" y="-134458"/>
            <a:ext cx="2016423" cy="16203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roep 28">
            <a:extLst>
              <a:ext uri="{FF2B5EF4-FFF2-40B4-BE49-F238E27FC236}">
                <a16:creationId xmlns:a16="http://schemas.microsoft.com/office/drawing/2014/main" id="{0F76FFFD-E4B2-DBD7-684E-852F567F7195}"/>
              </a:ext>
            </a:extLst>
          </p:cNvPr>
          <p:cNvGrpSpPr/>
          <p:nvPr/>
        </p:nvGrpSpPr>
        <p:grpSpPr>
          <a:xfrm>
            <a:off x="255660" y="239139"/>
            <a:ext cx="965668" cy="965668"/>
            <a:chOff x="0" y="0"/>
            <a:chExt cx="6840538" cy="6840538"/>
          </a:xfrm>
        </p:grpSpPr>
        <p:pic>
          <p:nvPicPr>
            <p:cNvPr id="30" name="Picture 2" descr="Profielfoto wijzigen">
              <a:extLst>
                <a:ext uri="{FF2B5EF4-FFF2-40B4-BE49-F238E27FC236}">
                  <a16:creationId xmlns:a16="http://schemas.microsoft.com/office/drawing/2014/main" id="{326246C4-6791-E32C-A30A-72CD56FE81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840538" cy="6840538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 descr="Profielfoto wijzigen">
              <a:extLst>
                <a:ext uri="{FF2B5EF4-FFF2-40B4-BE49-F238E27FC236}">
                  <a16:creationId xmlns:a16="http://schemas.microsoft.com/office/drawing/2014/main" id="{392885BA-8134-4C36-1651-294FF46E94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24" t="17592" r="17261" b="17261"/>
            <a:stretch/>
          </p:blipFill>
          <p:spPr bwMode="auto">
            <a:xfrm>
              <a:off x="745386" y="851338"/>
              <a:ext cx="5349765" cy="528741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Afgeronde rechthoek 31">
            <a:extLst>
              <a:ext uri="{FF2B5EF4-FFF2-40B4-BE49-F238E27FC236}">
                <a16:creationId xmlns:a16="http://schemas.microsoft.com/office/drawing/2014/main" id="{4757FA1C-B94B-2D4C-B599-35A6AD2B622C}"/>
              </a:ext>
            </a:extLst>
          </p:cNvPr>
          <p:cNvSpPr/>
          <p:nvPr/>
        </p:nvSpPr>
        <p:spPr>
          <a:xfrm>
            <a:off x="1668642" y="273532"/>
            <a:ext cx="2162396" cy="987434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F26B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Montserrat ExtraBold" pitchFamily="2" charset="77"/>
              </a:rPr>
              <a:t>Innsbruck</a:t>
            </a:r>
          </a:p>
          <a:p>
            <a:pPr algn="ctr"/>
            <a:r>
              <a:rPr lang="en-GB" b="1" dirty="0">
                <a:solidFill>
                  <a:schemeClr val="tx1"/>
                </a:solidFill>
                <a:latin typeface="Montserrat SemiBold" pitchFamily="2" charset="77"/>
              </a:rPr>
              <a:t>August 28</a:t>
            </a:r>
          </a:p>
        </p:txBody>
      </p:sp>
      <p:sp>
        <p:nvSpPr>
          <p:cNvPr id="33" name="Afgeronde rechthoek 32">
            <a:extLst>
              <a:ext uri="{FF2B5EF4-FFF2-40B4-BE49-F238E27FC236}">
                <a16:creationId xmlns:a16="http://schemas.microsoft.com/office/drawing/2014/main" id="{2496F7A5-24C3-441C-96B8-2D1DFDD1A94E}"/>
              </a:ext>
            </a:extLst>
          </p:cNvPr>
          <p:cNvSpPr/>
          <p:nvPr/>
        </p:nvSpPr>
        <p:spPr>
          <a:xfrm>
            <a:off x="8595700" y="233839"/>
            <a:ext cx="2162396" cy="987434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F26B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Montserrat ExtraBold" pitchFamily="2" charset="77"/>
              </a:rPr>
              <a:t>Chamonix</a:t>
            </a:r>
          </a:p>
          <a:p>
            <a:pPr algn="ctr"/>
            <a:r>
              <a:rPr lang="en-GB" b="1" dirty="0">
                <a:solidFill>
                  <a:schemeClr val="tx1"/>
                </a:solidFill>
                <a:latin typeface="Montserrat SemiBold" pitchFamily="2" charset="77"/>
              </a:rPr>
              <a:t>September 4</a:t>
            </a:r>
          </a:p>
        </p:txBody>
      </p:sp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49A3F64E-ACB9-F252-3BC0-438B690BD024}"/>
              </a:ext>
            </a:extLst>
          </p:cNvPr>
          <p:cNvSpPr/>
          <p:nvPr/>
        </p:nvSpPr>
        <p:spPr>
          <a:xfrm>
            <a:off x="387210" y="1747368"/>
            <a:ext cx="2562864" cy="760643"/>
          </a:xfrm>
          <a:prstGeom prst="roundRect">
            <a:avLst>
              <a:gd name="adj" fmla="val 8170"/>
            </a:avLst>
          </a:prstGeom>
          <a:solidFill>
            <a:schemeClr val="bg1"/>
          </a:solidFill>
          <a:ln w="28575">
            <a:solidFill>
              <a:srgbClr val="F26B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Jost Medium" pitchFamily="2" charset="77"/>
                <a:ea typeface="Jost Medium" pitchFamily="2" charset="77"/>
              </a:rPr>
              <a:t>Edition 2026 - 8 days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Jost Medium" pitchFamily="2" charset="77"/>
                <a:ea typeface="Jost Medium" pitchFamily="2" charset="77"/>
              </a:rPr>
              <a:t>756 km - 16.000 m D+</a:t>
            </a:r>
            <a:endParaRPr lang="en-GB" sz="1200" dirty="0">
              <a:solidFill>
                <a:schemeClr val="tx1"/>
              </a:solidFill>
              <a:latin typeface="Jost Medium" pitchFamily="2" charset="77"/>
              <a:ea typeface="Jost Medium" pitchFamily="2" charset="77"/>
            </a:endParaRPr>
          </a:p>
        </p:txBody>
      </p:sp>
      <p:sp>
        <p:nvSpPr>
          <p:cNvPr id="35" name="Tekstvak 34">
            <a:extLst>
              <a:ext uri="{FF2B5EF4-FFF2-40B4-BE49-F238E27FC236}">
                <a16:creationId xmlns:a16="http://schemas.microsoft.com/office/drawing/2014/main" id="{4D3D622D-2412-8A07-71A0-0A507170B1DB}"/>
              </a:ext>
            </a:extLst>
          </p:cNvPr>
          <p:cNvSpPr txBox="1"/>
          <p:nvPr/>
        </p:nvSpPr>
        <p:spPr>
          <a:xfrm>
            <a:off x="9686345" y="4839130"/>
            <a:ext cx="12346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00" i="1">
                <a:latin typeface="Rockwell" panose="02060603020205020403" pitchFamily="18" charset="77"/>
                <a:ea typeface="Jost Black" pitchFamily="2" charset="77"/>
              </a:rPr>
              <a:t>Passo dello Stelvio</a:t>
            </a: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F340AA94-CB35-1A63-6943-F0CFC9C76971}"/>
              </a:ext>
            </a:extLst>
          </p:cNvPr>
          <p:cNvSpPr txBox="1"/>
          <p:nvPr/>
        </p:nvSpPr>
        <p:spPr>
          <a:xfrm>
            <a:off x="4432896" y="4865307"/>
            <a:ext cx="7617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Furkapass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sp>
        <p:nvSpPr>
          <p:cNvPr id="37" name="Tekstvak 36">
            <a:extLst>
              <a:ext uri="{FF2B5EF4-FFF2-40B4-BE49-F238E27FC236}">
                <a16:creationId xmlns:a16="http://schemas.microsoft.com/office/drawing/2014/main" id="{F98CDA00-8D3C-7E7A-7B24-4A627F434F57}"/>
              </a:ext>
            </a:extLst>
          </p:cNvPr>
          <p:cNvSpPr txBox="1"/>
          <p:nvPr/>
        </p:nvSpPr>
        <p:spPr>
          <a:xfrm>
            <a:off x="8144996" y="4553345"/>
            <a:ext cx="8082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Albulapass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73DBADFB-B4D6-D12D-CBA3-DE677F935AC7}"/>
              </a:ext>
            </a:extLst>
          </p:cNvPr>
          <p:cNvSpPr txBox="1"/>
          <p:nvPr/>
        </p:nvSpPr>
        <p:spPr>
          <a:xfrm>
            <a:off x="5115892" y="4307551"/>
            <a:ext cx="9172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Oberalppass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280C3BD0-3BB1-EF35-C704-157C44D925DC}"/>
              </a:ext>
            </a:extLst>
          </p:cNvPr>
          <p:cNvSpPr txBox="1"/>
          <p:nvPr/>
        </p:nvSpPr>
        <p:spPr>
          <a:xfrm>
            <a:off x="1013833" y="6587952"/>
            <a:ext cx="11416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i="1" dirty="0">
                <a:latin typeface="Rockwell" panose="02060603020205020403" pitchFamily="18" charset="77"/>
                <a:ea typeface="Jost Black" pitchFamily="2" charset="77"/>
              </a:rPr>
              <a:t>Col de la </a:t>
            </a:r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Forclaz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8D3B8ECA-5836-A257-9AB0-0D904CB459EF}"/>
              </a:ext>
            </a:extLst>
          </p:cNvPr>
          <p:cNvSpPr txBox="1"/>
          <p:nvPr/>
        </p:nvSpPr>
        <p:spPr>
          <a:xfrm>
            <a:off x="1060822" y="6790781"/>
            <a:ext cx="6533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dirty="0" err="1">
                <a:latin typeface="Rockwell" panose="02060603020205020403" pitchFamily="18" charset="77"/>
                <a:ea typeface="Jost SemiBold" pitchFamily="2" charset="77"/>
              </a:rPr>
              <a:t>Trient</a:t>
            </a:r>
            <a:endParaRPr lang="nl-NL" sz="1200" b="1" dirty="0">
              <a:latin typeface="Rockwell" panose="02060603020205020403" pitchFamily="18" charset="77"/>
              <a:ea typeface="Jost SemiBold" pitchFamily="2" charset="77"/>
            </a:endParaRP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8B08FD2-C419-52AD-F919-F01ABA6CE6CA}"/>
              </a:ext>
            </a:extLst>
          </p:cNvPr>
          <p:cNvSpPr txBox="1"/>
          <p:nvPr/>
        </p:nvSpPr>
        <p:spPr>
          <a:xfrm>
            <a:off x="2129260" y="6747132"/>
            <a:ext cx="695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dirty="0" err="1">
                <a:latin typeface="Rockwell" panose="02060603020205020403" pitchFamily="18" charset="77"/>
                <a:ea typeface="Jost SemiBold" pitchFamily="2" charset="77"/>
              </a:rPr>
              <a:t>Moiry</a:t>
            </a:r>
            <a:r>
              <a:rPr lang="nl-NL" sz="1200" b="1" dirty="0">
                <a:latin typeface="Rockwell" panose="02060603020205020403" pitchFamily="18" charset="77"/>
                <a:ea typeface="Jost SemiBold" pitchFamily="2" charset="77"/>
              </a:rPr>
              <a:t> </a:t>
            </a:r>
          </a:p>
        </p:txBody>
      </p:sp>
      <p:sp>
        <p:nvSpPr>
          <p:cNvPr id="43" name="Tekstvak 42">
            <a:extLst>
              <a:ext uri="{FF2B5EF4-FFF2-40B4-BE49-F238E27FC236}">
                <a16:creationId xmlns:a16="http://schemas.microsoft.com/office/drawing/2014/main" id="{3D2F63F6-70FF-8700-029E-1BD229A965CE}"/>
              </a:ext>
            </a:extLst>
          </p:cNvPr>
          <p:cNvSpPr txBox="1"/>
          <p:nvPr/>
        </p:nvSpPr>
        <p:spPr>
          <a:xfrm>
            <a:off x="8518229" y="5367324"/>
            <a:ext cx="13593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i="1">
                <a:latin typeface="Rockwell" panose="02060603020205020403" pitchFamily="18" charset="77"/>
                <a:ea typeface="Jost Black" pitchFamily="2" charset="77"/>
              </a:rPr>
              <a:t>Passo del Bernina</a:t>
            </a:r>
          </a:p>
        </p:txBody>
      </p:sp>
      <p:sp>
        <p:nvSpPr>
          <p:cNvPr id="44" name="Tekstvak 43">
            <a:extLst>
              <a:ext uri="{FF2B5EF4-FFF2-40B4-BE49-F238E27FC236}">
                <a16:creationId xmlns:a16="http://schemas.microsoft.com/office/drawing/2014/main" id="{B8323DDA-F6DA-BE55-F4CE-E47B049BCA38}"/>
              </a:ext>
            </a:extLst>
          </p:cNvPr>
          <p:cNvSpPr txBox="1"/>
          <p:nvPr/>
        </p:nvSpPr>
        <p:spPr>
          <a:xfrm>
            <a:off x="2847751" y="5245568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dirty="0" err="1">
                <a:latin typeface="Rockwell" panose="02060603020205020403" pitchFamily="18" charset="77"/>
                <a:ea typeface="Jost SemiBold" pitchFamily="2" charset="77"/>
              </a:rPr>
              <a:t>Aletsch</a:t>
            </a:r>
            <a:r>
              <a:rPr lang="nl-NL" sz="1200" b="1" dirty="0">
                <a:latin typeface="Rockwell" panose="02060603020205020403" pitchFamily="18" charset="77"/>
                <a:ea typeface="Jost SemiBold" pitchFamily="2" charset="77"/>
              </a:rPr>
              <a:t> </a:t>
            </a:r>
          </a:p>
        </p:txBody>
      </p:sp>
      <p:sp>
        <p:nvSpPr>
          <p:cNvPr id="45" name="Tekstvak 44">
            <a:extLst>
              <a:ext uri="{FF2B5EF4-FFF2-40B4-BE49-F238E27FC236}">
                <a16:creationId xmlns:a16="http://schemas.microsoft.com/office/drawing/2014/main" id="{EA0E8120-DAA0-B102-3D36-2E0B34D4CD4C}"/>
              </a:ext>
            </a:extLst>
          </p:cNvPr>
          <p:cNvSpPr txBox="1"/>
          <p:nvPr/>
        </p:nvSpPr>
        <p:spPr>
          <a:xfrm>
            <a:off x="3766553" y="4488040"/>
            <a:ext cx="665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dirty="0">
                <a:latin typeface="Rockwell" panose="02060603020205020403" pitchFamily="18" charset="77"/>
                <a:ea typeface="Jost SemiBold" pitchFamily="2" charset="77"/>
              </a:rPr>
              <a:t>Rhône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22C1A2CC-6101-09B0-ACCA-E5A4A2F99129}"/>
              </a:ext>
            </a:extLst>
          </p:cNvPr>
          <p:cNvSpPr txBox="1"/>
          <p:nvPr/>
        </p:nvSpPr>
        <p:spPr>
          <a:xfrm>
            <a:off x="2905015" y="6874650"/>
            <a:ext cx="771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dirty="0" err="1">
                <a:latin typeface="Rockwell" panose="02060603020205020403" pitchFamily="18" charset="77"/>
                <a:ea typeface="Jost SemiBold" pitchFamily="2" charset="77"/>
              </a:rPr>
              <a:t>Gorner</a:t>
            </a:r>
            <a:r>
              <a:rPr lang="nl-NL" sz="1200" b="1" dirty="0">
                <a:latin typeface="Rockwell" panose="02060603020205020403" pitchFamily="18" charset="77"/>
                <a:ea typeface="Jost SemiBold" pitchFamily="2" charset="77"/>
              </a:rPr>
              <a:t> </a:t>
            </a:r>
          </a:p>
        </p:txBody>
      </p:sp>
      <p:sp>
        <p:nvSpPr>
          <p:cNvPr id="47" name="Tekstvak 46">
            <a:extLst>
              <a:ext uri="{FF2B5EF4-FFF2-40B4-BE49-F238E27FC236}">
                <a16:creationId xmlns:a16="http://schemas.microsoft.com/office/drawing/2014/main" id="{312727B8-4D63-9739-F544-A82BF3F17831}"/>
              </a:ext>
            </a:extLst>
          </p:cNvPr>
          <p:cNvSpPr txBox="1"/>
          <p:nvPr/>
        </p:nvSpPr>
        <p:spPr>
          <a:xfrm>
            <a:off x="7416371" y="5494856"/>
            <a:ext cx="1161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dirty="0" err="1">
                <a:latin typeface="Rockwell" panose="02060603020205020403" pitchFamily="18" charset="77"/>
                <a:ea typeface="Jost SemiBold" pitchFamily="2" charset="77"/>
              </a:rPr>
              <a:t>Morteratsch</a:t>
            </a:r>
            <a:r>
              <a:rPr lang="nl-NL" sz="1200" b="1" dirty="0">
                <a:latin typeface="Rockwell" panose="02060603020205020403" pitchFamily="18" charset="77"/>
                <a:ea typeface="Jost SemiBold" pitchFamily="2" charset="77"/>
              </a:rPr>
              <a:t> </a:t>
            </a:r>
          </a:p>
        </p:txBody>
      </p:sp>
      <p:pic>
        <p:nvPicPr>
          <p:cNvPr id="51" name="Afbeelding 50" descr="Afbeelding met symbool, logo, cirkel, Graphics&#10;&#10;Automatisch gegenereerde beschrijving">
            <a:extLst>
              <a:ext uri="{FF2B5EF4-FFF2-40B4-BE49-F238E27FC236}">
                <a16:creationId xmlns:a16="http://schemas.microsoft.com/office/drawing/2014/main" id="{473B3805-981F-B080-D211-22277E423A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4605" y="4827797"/>
            <a:ext cx="166105" cy="202648"/>
          </a:xfrm>
          <a:prstGeom prst="rect">
            <a:avLst/>
          </a:prstGeom>
        </p:spPr>
      </p:pic>
      <p:pic>
        <p:nvPicPr>
          <p:cNvPr id="53" name="Afbeelding 52" descr="Afbeelding met symbool, Graphics, creativiteit, zwart-wit&#10;&#10;Automatisch gegenereerde beschrijving">
            <a:extLst>
              <a:ext uri="{FF2B5EF4-FFF2-40B4-BE49-F238E27FC236}">
                <a16:creationId xmlns:a16="http://schemas.microsoft.com/office/drawing/2014/main" id="{7C3BF2E3-641D-0DFC-8384-1D2956F52B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3416" y="6884899"/>
            <a:ext cx="166105" cy="202648"/>
          </a:xfrm>
          <a:prstGeom prst="rect">
            <a:avLst/>
          </a:prstGeom>
        </p:spPr>
      </p:pic>
      <p:pic>
        <p:nvPicPr>
          <p:cNvPr id="55" name="Afbeelding 54" descr="Afbeelding met cirkel, Graphics, creativiteit&#10;&#10;Automatisch gegenereerde beschrijving">
            <a:extLst>
              <a:ext uri="{FF2B5EF4-FFF2-40B4-BE49-F238E27FC236}">
                <a16:creationId xmlns:a16="http://schemas.microsoft.com/office/drawing/2014/main" id="{95476123-55D1-670B-19C3-A65359CFFE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2879" y="3578067"/>
            <a:ext cx="166105" cy="202648"/>
          </a:xfrm>
          <a:prstGeom prst="rect">
            <a:avLst/>
          </a:prstGeom>
        </p:spPr>
      </p:pic>
      <p:pic>
        <p:nvPicPr>
          <p:cNvPr id="56" name="Afbeelding 55" descr="Afbeelding met symbool, Graphics, creativiteit, zwart-wit&#10;&#10;Automatisch gegenereerde beschrijving">
            <a:extLst>
              <a:ext uri="{FF2B5EF4-FFF2-40B4-BE49-F238E27FC236}">
                <a16:creationId xmlns:a16="http://schemas.microsoft.com/office/drawing/2014/main" id="{097C3ACA-BFD8-8039-9494-CF135CCE5C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7143" y="6587000"/>
            <a:ext cx="166105" cy="202648"/>
          </a:xfrm>
          <a:prstGeom prst="rect">
            <a:avLst/>
          </a:prstGeom>
        </p:spPr>
      </p:pic>
      <p:pic>
        <p:nvPicPr>
          <p:cNvPr id="57" name="Afbeelding 56" descr="Afbeelding met cirkel, Graphics, creativiteit&#10;&#10;Automatisch gegenereerde beschrijving">
            <a:extLst>
              <a:ext uri="{FF2B5EF4-FFF2-40B4-BE49-F238E27FC236}">
                <a16:creationId xmlns:a16="http://schemas.microsoft.com/office/drawing/2014/main" id="{E3BCCD79-81A6-3C66-88FD-7C2CB45099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4524" y="4800600"/>
            <a:ext cx="166105" cy="202648"/>
          </a:xfrm>
          <a:prstGeom prst="rect">
            <a:avLst/>
          </a:prstGeom>
        </p:spPr>
      </p:pic>
      <p:pic>
        <p:nvPicPr>
          <p:cNvPr id="59" name="Afbeelding 58" descr="Afbeelding met symbool, logo, cirkel, Graphics&#10;&#10;Automatisch gegenereerde beschrijving">
            <a:extLst>
              <a:ext uri="{FF2B5EF4-FFF2-40B4-BE49-F238E27FC236}">
                <a16:creationId xmlns:a16="http://schemas.microsoft.com/office/drawing/2014/main" id="{C640FCCC-B540-9F48-FD1F-F4799C562D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0877" y="5188017"/>
            <a:ext cx="166105" cy="202648"/>
          </a:xfrm>
          <a:prstGeom prst="rect">
            <a:avLst/>
          </a:prstGeom>
        </p:spPr>
      </p:pic>
      <p:pic>
        <p:nvPicPr>
          <p:cNvPr id="60" name="Afbeelding 59" descr="Afbeelding met symbool, logo, cirkel, Graphics&#10;&#10;Automatisch gegenereerde beschrijving">
            <a:extLst>
              <a:ext uri="{FF2B5EF4-FFF2-40B4-BE49-F238E27FC236}">
                <a16:creationId xmlns:a16="http://schemas.microsoft.com/office/drawing/2014/main" id="{C7B2C94F-962B-A2BE-CB8D-CC8DD7062A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0096" y="4984027"/>
            <a:ext cx="166105" cy="202648"/>
          </a:xfrm>
          <a:prstGeom prst="rect">
            <a:avLst/>
          </a:prstGeom>
        </p:spPr>
      </p:pic>
      <p:sp>
        <p:nvSpPr>
          <p:cNvPr id="61" name="Tekstvak 60">
            <a:extLst>
              <a:ext uri="{FF2B5EF4-FFF2-40B4-BE49-F238E27FC236}">
                <a16:creationId xmlns:a16="http://schemas.microsoft.com/office/drawing/2014/main" id="{7DB4345B-0C3E-5DF9-1EE8-4B646943B118}"/>
              </a:ext>
            </a:extLst>
          </p:cNvPr>
          <p:cNvSpPr txBox="1"/>
          <p:nvPr/>
        </p:nvSpPr>
        <p:spPr>
          <a:xfrm>
            <a:off x="9055116" y="5160062"/>
            <a:ext cx="1223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00" i="1">
                <a:latin typeface="Rockwell" panose="02060603020205020403" pitchFamily="18" charset="77"/>
                <a:ea typeface="Jost Black" pitchFamily="2" charset="77"/>
              </a:rPr>
              <a:t>Passo di Foscagno</a:t>
            </a:r>
          </a:p>
        </p:txBody>
      </p:sp>
      <p:pic>
        <p:nvPicPr>
          <p:cNvPr id="62" name="Afbeelding 61" descr="Afbeelding met symbool, Graphics, creativiteit, zwart-wit&#10;&#10;Automatisch gegenereerde beschrijving">
            <a:extLst>
              <a:ext uri="{FF2B5EF4-FFF2-40B4-BE49-F238E27FC236}">
                <a16:creationId xmlns:a16="http://schemas.microsoft.com/office/drawing/2014/main" id="{C420C2A0-3036-D6D0-67C8-2BEF27D41E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7718" y="5328696"/>
            <a:ext cx="166105" cy="202648"/>
          </a:xfrm>
          <a:prstGeom prst="rect">
            <a:avLst/>
          </a:prstGeom>
        </p:spPr>
      </p:pic>
      <p:pic>
        <p:nvPicPr>
          <p:cNvPr id="63" name="Afbeelding 62" descr="Afbeelding met symbool, Graphics, creativiteit, zwart-wit&#10;&#10;Automatisch gegenereerde beschrijving">
            <a:extLst>
              <a:ext uri="{FF2B5EF4-FFF2-40B4-BE49-F238E27FC236}">
                <a16:creationId xmlns:a16="http://schemas.microsoft.com/office/drawing/2014/main" id="{A10FC0AE-0446-47B7-573D-1A8366B288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504" y="6810432"/>
            <a:ext cx="166105" cy="202648"/>
          </a:xfrm>
          <a:prstGeom prst="rect">
            <a:avLst/>
          </a:prstGeom>
        </p:spPr>
      </p:pic>
      <p:sp>
        <p:nvSpPr>
          <p:cNvPr id="64" name="Tekstvak 63">
            <a:extLst>
              <a:ext uri="{FF2B5EF4-FFF2-40B4-BE49-F238E27FC236}">
                <a16:creationId xmlns:a16="http://schemas.microsoft.com/office/drawing/2014/main" id="{A54F115F-4DB4-A681-BCF8-570E1B4B7A8E}"/>
              </a:ext>
            </a:extLst>
          </p:cNvPr>
          <p:cNvSpPr txBox="1"/>
          <p:nvPr/>
        </p:nvSpPr>
        <p:spPr>
          <a:xfrm>
            <a:off x="884863" y="7079016"/>
            <a:ext cx="12121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dirty="0" err="1">
                <a:latin typeface="Rockwell" panose="02060603020205020403" pitchFamily="18" charset="77"/>
                <a:ea typeface="Jost SemiBold" pitchFamily="2" charset="77"/>
              </a:rPr>
              <a:t>Mer</a:t>
            </a:r>
            <a:r>
              <a:rPr lang="nl-NL" sz="1200" b="1" dirty="0">
                <a:latin typeface="Rockwell" panose="02060603020205020403" pitchFamily="18" charset="77"/>
                <a:ea typeface="Jost SemiBold" pitchFamily="2" charset="77"/>
              </a:rPr>
              <a:t> de </a:t>
            </a:r>
            <a:r>
              <a:rPr lang="nl-NL" sz="1200" b="1" dirty="0" err="1">
                <a:latin typeface="Rockwell" panose="02060603020205020403" pitchFamily="18" charset="77"/>
                <a:ea typeface="Jost SemiBold" pitchFamily="2" charset="77"/>
              </a:rPr>
              <a:t>Glace</a:t>
            </a:r>
            <a:endParaRPr lang="nl-NL" sz="1200" b="1" dirty="0">
              <a:latin typeface="Rockwell" panose="02060603020205020403" pitchFamily="18" charset="77"/>
              <a:ea typeface="Jost SemiBold" pitchFamily="2" charset="77"/>
            </a:endParaRPr>
          </a:p>
        </p:txBody>
      </p:sp>
      <p:pic>
        <p:nvPicPr>
          <p:cNvPr id="65" name="Afbeelding 64" descr="Afbeelding met symbool, Graphics, creativiteit, zwart-wit&#10;&#10;Automatisch gegenereerde beschrijving">
            <a:extLst>
              <a:ext uri="{FF2B5EF4-FFF2-40B4-BE49-F238E27FC236}">
                <a16:creationId xmlns:a16="http://schemas.microsoft.com/office/drawing/2014/main" id="{BDDA0A24-09D1-5744-5700-7650F0D338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392" y="7087524"/>
            <a:ext cx="166105" cy="202648"/>
          </a:xfrm>
          <a:prstGeom prst="rect">
            <a:avLst/>
          </a:prstGeom>
        </p:spPr>
      </p:pic>
      <p:pic>
        <p:nvPicPr>
          <p:cNvPr id="66" name="Afbeelding 65" descr="Afbeelding met symbool, logo, cirkel, Graphics&#10;&#10;Automatisch gegenereerde beschrijving">
            <a:extLst>
              <a:ext uri="{FF2B5EF4-FFF2-40B4-BE49-F238E27FC236}">
                <a16:creationId xmlns:a16="http://schemas.microsoft.com/office/drawing/2014/main" id="{B3D78C91-CD1D-0B64-4B90-E6785A091A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1613" y="4595366"/>
            <a:ext cx="166105" cy="202648"/>
          </a:xfrm>
          <a:prstGeom prst="rect">
            <a:avLst/>
          </a:prstGeom>
        </p:spPr>
      </p:pic>
      <p:pic>
        <p:nvPicPr>
          <p:cNvPr id="67" name="Afbeelding 66" descr="Afbeelding met symbool, logo, cirkel, Graphics&#10;&#10;Automatisch gegenereerde beschrijving">
            <a:extLst>
              <a:ext uri="{FF2B5EF4-FFF2-40B4-BE49-F238E27FC236}">
                <a16:creationId xmlns:a16="http://schemas.microsoft.com/office/drawing/2014/main" id="{151F2D46-7877-B5D8-5123-561A212BB4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2163" y="4344931"/>
            <a:ext cx="166105" cy="202648"/>
          </a:xfrm>
          <a:prstGeom prst="rect">
            <a:avLst/>
          </a:prstGeom>
        </p:spPr>
      </p:pic>
      <p:pic>
        <p:nvPicPr>
          <p:cNvPr id="68" name="Afbeelding 67" descr="Afbeelding met cirkel, Graphics, creativiteit&#10;&#10;Automatisch gegenereerde beschrijving">
            <a:extLst>
              <a:ext uri="{FF2B5EF4-FFF2-40B4-BE49-F238E27FC236}">
                <a16:creationId xmlns:a16="http://schemas.microsoft.com/office/drawing/2014/main" id="{43624829-2020-7C42-38F2-B66C01EE03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3041" y="4246416"/>
            <a:ext cx="166105" cy="202648"/>
          </a:xfrm>
          <a:prstGeom prst="rect">
            <a:avLst/>
          </a:prstGeom>
        </p:spPr>
      </p:pic>
      <p:pic>
        <p:nvPicPr>
          <p:cNvPr id="69" name="Afbeelding 68" descr="Afbeelding met cirkel, Graphics, creativiteit&#10;&#10;Automatisch gegenereerde beschrijving">
            <a:extLst>
              <a:ext uri="{FF2B5EF4-FFF2-40B4-BE49-F238E27FC236}">
                <a16:creationId xmlns:a16="http://schemas.microsoft.com/office/drawing/2014/main" id="{07A3DE4D-B3A7-8FDF-9BCE-2493CB4185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0841" y="4648200"/>
            <a:ext cx="166105" cy="202648"/>
          </a:xfrm>
          <a:prstGeom prst="rect">
            <a:avLst/>
          </a:prstGeom>
        </p:spPr>
      </p:pic>
      <p:pic>
        <p:nvPicPr>
          <p:cNvPr id="70" name="Afbeelding 69" descr="Afbeelding met symbool, Graphics, creativiteit, zwart-wit&#10;&#10;Automatisch gegenereerde beschrijving">
            <a:extLst>
              <a:ext uri="{FF2B5EF4-FFF2-40B4-BE49-F238E27FC236}">
                <a16:creationId xmlns:a16="http://schemas.microsoft.com/office/drawing/2014/main" id="{C7E19A1D-C37F-E86E-EBAD-88FF3E6EF5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0814" y="4523176"/>
            <a:ext cx="166105" cy="202648"/>
          </a:xfrm>
          <a:prstGeom prst="rect">
            <a:avLst/>
          </a:prstGeom>
        </p:spPr>
      </p:pic>
      <p:pic>
        <p:nvPicPr>
          <p:cNvPr id="71" name="Afbeelding 70" descr="Afbeelding met symbool, logo, cirkel, Graphics&#10;&#10;Automatisch gegenereerde beschrijving">
            <a:extLst>
              <a:ext uri="{FF2B5EF4-FFF2-40B4-BE49-F238E27FC236}">
                <a16:creationId xmlns:a16="http://schemas.microsoft.com/office/drawing/2014/main" id="{CB880F44-2462-C6CB-83CE-083516ABFB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0355" y="4697237"/>
            <a:ext cx="166105" cy="202648"/>
          </a:xfrm>
          <a:prstGeom prst="rect">
            <a:avLst/>
          </a:prstGeom>
        </p:spPr>
      </p:pic>
      <p:pic>
        <p:nvPicPr>
          <p:cNvPr id="72" name="Afbeelding 71" descr="Afbeelding met cirkel, Graphics, creativiteit&#10;&#10;Automatisch gegenereerde beschrijving">
            <a:extLst>
              <a:ext uri="{FF2B5EF4-FFF2-40B4-BE49-F238E27FC236}">
                <a16:creationId xmlns:a16="http://schemas.microsoft.com/office/drawing/2014/main" id="{7772CAE0-D99F-6C9B-294B-9F75181501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4049" y="5756565"/>
            <a:ext cx="166105" cy="202648"/>
          </a:xfrm>
          <a:prstGeom prst="rect">
            <a:avLst/>
          </a:prstGeom>
        </p:spPr>
      </p:pic>
      <p:pic>
        <p:nvPicPr>
          <p:cNvPr id="73" name="Afbeelding 72" descr="Afbeelding met symbool, Graphics, creativiteit, zwart-wit&#10;&#10;Automatisch gegenereerde beschrijving">
            <a:extLst>
              <a:ext uri="{FF2B5EF4-FFF2-40B4-BE49-F238E27FC236}">
                <a16:creationId xmlns:a16="http://schemas.microsoft.com/office/drawing/2014/main" id="{E2EEA7B2-C4D2-2F99-D0E7-E74944DCD8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6466" y="5278252"/>
            <a:ext cx="166105" cy="202648"/>
          </a:xfrm>
          <a:prstGeom prst="rect">
            <a:avLst/>
          </a:prstGeom>
        </p:spPr>
      </p:pic>
      <p:pic>
        <p:nvPicPr>
          <p:cNvPr id="74" name="Afbeelding 73" descr="Afbeelding met cirkel, Graphics, creativiteit&#10;&#10;Automatisch gegenereerde beschrijving">
            <a:extLst>
              <a:ext uri="{FF2B5EF4-FFF2-40B4-BE49-F238E27FC236}">
                <a16:creationId xmlns:a16="http://schemas.microsoft.com/office/drawing/2014/main" id="{06036A92-1DBE-8FC0-5319-651F287255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494" y="5628408"/>
            <a:ext cx="166105" cy="202648"/>
          </a:xfrm>
          <a:prstGeom prst="rect">
            <a:avLst/>
          </a:prstGeom>
        </p:spPr>
      </p:pic>
      <p:pic>
        <p:nvPicPr>
          <p:cNvPr id="75" name="Afbeelding 74" descr="Afbeelding met symbool, logo, cirkel, Graphics&#10;&#10;Automatisch gegenereerde beschrijving">
            <a:extLst>
              <a:ext uri="{FF2B5EF4-FFF2-40B4-BE49-F238E27FC236}">
                <a16:creationId xmlns:a16="http://schemas.microsoft.com/office/drawing/2014/main" id="{6ADF1D12-AFA7-3913-EC39-E94F644D5A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503" y="6508988"/>
            <a:ext cx="166105" cy="202648"/>
          </a:xfrm>
          <a:prstGeom prst="rect">
            <a:avLst/>
          </a:prstGeom>
        </p:spPr>
      </p:pic>
      <p:sp>
        <p:nvSpPr>
          <p:cNvPr id="76" name="Tekstvak 75">
            <a:extLst>
              <a:ext uri="{FF2B5EF4-FFF2-40B4-BE49-F238E27FC236}">
                <a16:creationId xmlns:a16="http://schemas.microsoft.com/office/drawing/2014/main" id="{55F9E01C-DDCB-3A3B-6FA2-19C3EB9C70E8}"/>
              </a:ext>
            </a:extLst>
          </p:cNvPr>
          <p:cNvSpPr txBox="1"/>
          <p:nvPr/>
        </p:nvSpPr>
        <p:spPr>
          <a:xfrm>
            <a:off x="126657" y="6541934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sz="1000" i="1" dirty="0">
                <a:latin typeface="Rockwell" panose="02060603020205020403" pitchFamily="18" charset="77"/>
                <a:ea typeface="Jost Black" pitchFamily="2" charset="77"/>
              </a:rPr>
              <a:t>Col des</a:t>
            </a:r>
          </a:p>
          <a:p>
            <a:pPr algn="r"/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Montets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pic>
        <p:nvPicPr>
          <p:cNvPr id="77" name="Afbeelding 76" descr="Afbeelding met symbool, logo, cirkel, Graphics&#10;&#10;Automatisch gegenereerde beschrijving">
            <a:extLst>
              <a:ext uri="{FF2B5EF4-FFF2-40B4-BE49-F238E27FC236}">
                <a16:creationId xmlns:a16="http://schemas.microsoft.com/office/drawing/2014/main" id="{6DCEEDB5-6400-62FE-F76C-BB3C66FED1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872" y="6661388"/>
            <a:ext cx="166105" cy="202648"/>
          </a:xfrm>
          <a:prstGeom prst="rect">
            <a:avLst/>
          </a:prstGeom>
        </p:spPr>
      </p:pic>
      <p:sp>
        <p:nvSpPr>
          <p:cNvPr id="81" name="Tekstvak 80">
            <a:extLst>
              <a:ext uri="{FF2B5EF4-FFF2-40B4-BE49-F238E27FC236}">
                <a16:creationId xmlns:a16="http://schemas.microsoft.com/office/drawing/2014/main" id="{C6DCD0CA-DB7B-EFA5-B909-BFA2E4B2E360}"/>
              </a:ext>
            </a:extLst>
          </p:cNvPr>
          <p:cNvSpPr txBox="1"/>
          <p:nvPr/>
        </p:nvSpPr>
        <p:spPr>
          <a:xfrm>
            <a:off x="9718499" y="3741576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Reschenpass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pic>
        <p:nvPicPr>
          <p:cNvPr id="82" name="Afbeelding 81" descr="Afbeelding met symbool, logo, cirkel, Graphics&#10;&#10;Automatisch gegenereerde beschrijving">
            <a:extLst>
              <a:ext uri="{FF2B5EF4-FFF2-40B4-BE49-F238E27FC236}">
                <a16:creationId xmlns:a16="http://schemas.microsoft.com/office/drawing/2014/main" id="{C6421D49-9332-6432-B48E-3AEBA87626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4410" y="3731346"/>
            <a:ext cx="166105" cy="202648"/>
          </a:xfrm>
          <a:prstGeom prst="rect">
            <a:avLst/>
          </a:prstGeom>
        </p:spPr>
      </p:pic>
      <p:sp>
        <p:nvSpPr>
          <p:cNvPr id="83" name="Tekstvak 82">
            <a:extLst>
              <a:ext uri="{FF2B5EF4-FFF2-40B4-BE49-F238E27FC236}">
                <a16:creationId xmlns:a16="http://schemas.microsoft.com/office/drawing/2014/main" id="{89138123-CAD4-050A-F2CC-46CFBDDC7F76}"/>
              </a:ext>
            </a:extLst>
          </p:cNvPr>
          <p:cNvSpPr txBox="1"/>
          <p:nvPr/>
        </p:nvSpPr>
        <p:spPr>
          <a:xfrm rot="18900000">
            <a:off x="8422288" y="8331254"/>
            <a:ext cx="562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00" i="1" dirty="0">
                <a:latin typeface="Rockwell" panose="02060603020205020403" pitchFamily="18" charset="77"/>
                <a:ea typeface="Jost Black" pitchFamily="2" charset="77"/>
              </a:rPr>
              <a:t>Stelvio</a:t>
            </a:r>
          </a:p>
        </p:txBody>
      </p:sp>
      <p:sp>
        <p:nvSpPr>
          <p:cNvPr id="85" name="Tekstvak 84">
            <a:extLst>
              <a:ext uri="{FF2B5EF4-FFF2-40B4-BE49-F238E27FC236}">
                <a16:creationId xmlns:a16="http://schemas.microsoft.com/office/drawing/2014/main" id="{BE979A4C-2941-9DF3-3378-F65973A467D1}"/>
              </a:ext>
            </a:extLst>
          </p:cNvPr>
          <p:cNvSpPr txBox="1"/>
          <p:nvPr/>
        </p:nvSpPr>
        <p:spPr>
          <a:xfrm rot="18900000">
            <a:off x="9086744" y="8448389"/>
            <a:ext cx="5549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Albula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sp>
        <p:nvSpPr>
          <p:cNvPr id="87" name="Tekstvak 86">
            <a:extLst>
              <a:ext uri="{FF2B5EF4-FFF2-40B4-BE49-F238E27FC236}">
                <a16:creationId xmlns:a16="http://schemas.microsoft.com/office/drawing/2014/main" id="{F82F5B98-C829-EBBF-EE42-390F20AD5A5B}"/>
              </a:ext>
            </a:extLst>
          </p:cNvPr>
          <p:cNvSpPr txBox="1"/>
          <p:nvPr/>
        </p:nvSpPr>
        <p:spPr>
          <a:xfrm rot="18900000">
            <a:off x="8831465" y="8315004"/>
            <a:ext cx="6971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i="1" dirty="0">
                <a:latin typeface="Rockwell" panose="02060603020205020403" pitchFamily="18" charset="77"/>
                <a:ea typeface="Jost Black" pitchFamily="2" charset="77"/>
              </a:rPr>
              <a:t>Bernina</a:t>
            </a:r>
          </a:p>
        </p:txBody>
      </p:sp>
      <p:sp>
        <p:nvSpPr>
          <p:cNvPr id="88" name="Tekstvak 87">
            <a:extLst>
              <a:ext uri="{FF2B5EF4-FFF2-40B4-BE49-F238E27FC236}">
                <a16:creationId xmlns:a16="http://schemas.microsoft.com/office/drawing/2014/main" id="{09614CF1-8766-98BB-BC8B-74D281A11027}"/>
              </a:ext>
            </a:extLst>
          </p:cNvPr>
          <p:cNvSpPr txBox="1"/>
          <p:nvPr/>
        </p:nvSpPr>
        <p:spPr>
          <a:xfrm rot="18900000">
            <a:off x="8608074" y="8313876"/>
            <a:ext cx="7296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00" i="1" dirty="0">
                <a:latin typeface="Rockwell" panose="02060603020205020403" pitchFamily="18" charset="77"/>
                <a:ea typeface="Jost Black" pitchFamily="2" charset="77"/>
              </a:rPr>
              <a:t>Foscagno</a:t>
            </a:r>
          </a:p>
        </p:txBody>
      </p:sp>
      <p:sp>
        <p:nvSpPr>
          <p:cNvPr id="89" name="Tekstvak 88">
            <a:extLst>
              <a:ext uri="{FF2B5EF4-FFF2-40B4-BE49-F238E27FC236}">
                <a16:creationId xmlns:a16="http://schemas.microsoft.com/office/drawing/2014/main" id="{9A996E86-179E-3210-AEA1-C14DE6E4EC32}"/>
              </a:ext>
            </a:extLst>
          </p:cNvPr>
          <p:cNvSpPr txBox="1"/>
          <p:nvPr/>
        </p:nvSpPr>
        <p:spPr>
          <a:xfrm rot="18900000">
            <a:off x="7977233" y="8431765"/>
            <a:ext cx="660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Reschen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sp>
        <p:nvSpPr>
          <p:cNvPr id="90" name="Tekstvak 89">
            <a:extLst>
              <a:ext uri="{FF2B5EF4-FFF2-40B4-BE49-F238E27FC236}">
                <a16:creationId xmlns:a16="http://schemas.microsoft.com/office/drawing/2014/main" id="{27035698-CF7E-BB73-7EA3-0D5EEF1B001B}"/>
              </a:ext>
            </a:extLst>
          </p:cNvPr>
          <p:cNvSpPr txBox="1"/>
          <p:nvPr/>
        </p:nvSpPr>
        <p:spPr>
          <a:xfrm rot="18900000">
            <a:off x="10040818" y="8444042"/>
            <a:ext cx="5084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Furka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sp>
        <p:nvSpPr>
          <p:cNvPr id="91" name="Tekstvak 90">
            <a:extLst>
              <a:ext uri="{FF2B5EF4-FFF2-40B4-BE49-F238E27FC236}">
                <a16:creationId xmlns:a16="http://schemas.microsoft.com/office/drawing/2014/main" id="{CD3360A8-8EA5-0B69-97D1-582B819609B1}"/>
              </a:ext>
            </a:extLst>
          </p:cNvPr>
          <p:cNvSpPr txBox="1"/>
          <p:nvPr/>
        </p:nvSpPr>
        <p:spPr>
          <a:xfrm rot="18900000">
            <a:off x="9712293" y="8430632"/>
            <a:ext cx="6639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Oberalp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sp>
        <p:nvSpPr>
          <p:cNvPr id="92" name="Tekstvak 91">
            <a:extLst>
              <a:ext uri="{FF2B5EF4-FFF2-40B4-BE49-F238E27FC236}">
                <a16:creationId xmlns:a16="http://schemas.microsoft.com/office/drawing/2014/main" id="{B90AD316-1E84-9204-C72D-A6D04B7564DF}"/>
              </a:ext>
            </a:extLst>
          </p:cNvPr>
          <p:cNvSpPr txBox="1"/>
          <p:nvPr/>
        </p:nvSpPr>
        <p:spPr>
          <a:xfrm rot="18900000">
            <a:off x="11239150" y="8482773"/>
            <a:ext cx="5164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Moiry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sp>
        <p:nvSpPr>
          <p:cNvPr id="93" name="Tekstvak 92">
            <a:extLst>
              <a:ext uri="{FF2B5EF4-FFF2-40B4-BE49-F238E27FC236}">
                <a16:creationId xmlns:a16="http://schemas.microsoft.com/office/drawing/2014/main" id="{AA44D8B7-50E5-B42F-0BA0-5E7E96316CED}"/>
              </a:ext>
            </a:extLst>
          </p:cNvPr>
          <p:cNvSpPr txBox="1"/>
          <p:nvPr/>
        </p:nvSpPr>
        <p:spPr>
          <a:xfrm rot="18900000">
            <a:off x="10562996" y="8630138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Zermatt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sp>
        <p:nvSpPr>
          <p:cNvPr id="94" name="Tekstvak 93">
            <a:extLst>
              <a:ext uri="{FF2B5EF4-FFF2-40B4-BE49-F238E27FC236}">
                <a16:creationId xmlns:a16="http://schemas.microsoft.com/office/drawing/2014/main" id="{EEB69626-176B-E6CC-5F01-1C68AC70ECB0}"/>
              </a:ext>
            </a:extLst>
          </p:cNvPr>
          <p:cNvSpPr txBox="1"/>
          <p:nvPr/>
        </p:nvSpPr>
        <p:spPr>
          <a:xfrm rot="18900000">
            <a:off x="10735178" y="8577997"/>
            <a:ext cx="7761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Unterbach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sp>
        <p:nvSpPr>
          <p:cNvPr id="95" name="Tekstvak 94">
            <a:extLst>
              <a:ext uri="{FF2B5EF4-FFF2-40B4-BE49-F238E27FC236}">
                <a16:creationId xmlns:a16="http://schemas.microsoft.com/office/drawing/2014/main" id="{ECBECF23-269C-1B9B-5A30-E4CC2476E0C7}"/>
              </a:ext>
            </a:extLst>
          </p:cNvPr>
          <p:cNvSpPr txBox="1"/>
          <p:nvPr/>
        </p:nvSpPr>
        <p:spPr>
          <a:xfrm rot="18900000">
            <a:off x="11959523" y="8642040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Forclaz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sp>
        <p:nvSpPr>
          <p:cNvPr id="96" name="Tekstvak 95">
            <a:extLst>
              <a:ext uri="{FF2B5EF4-FFF2-40B4-BE49-F238E27FC236}">
                <a16:creationId xmlns:a16="http://schemas.microsoft.com/office/drawing/2014/main" id="{B9F0749F-70F0-10D1-EDE0-5AB4017131D8}"/>
              </a:ext>
            </a:extLst>
          </p:cNvPr>
          <p:cNvSpPr txBox="1"/>
          <p:nvPr/>
        </p:nvSpPr>
        <p:spPr>
          <a:xfrm rot="18900000">
            <a:off x="12160378" y="8628438"/>
            <a:ext cx="6335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sz="1000" i="1" dirty="0" err="1">
                <a:latin typeface="Rockwell" panose="02060603020205020403" pitchFamily="18" charset="77"/>
                <a:ea typeface="Jost Black" pitchFamily="2" charset="77"/>
              </a:rPr>
              <a:t>Montets</a:t>
            </a:r>
            <a:endParaRPr lang="nl-NL" sz="1000" i="1" dirty="0">
              <a:latin typeface="Rockwell" panose="02060603020205020403" pitchFamily="18" charset="77"/>
              <a:ea typeface="Jost Black" pitchFamily="2" charset="77"/>
            </a:endParaRPr>
          </a:p>
        </p:txBody>
      </p:sp>
      <p:pic>
        <p:nvPicPr>
          <p:cNvPr id="97" name="Picture 96" descr="aletsch-map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04851" y="4714170"/>
            <a:ext cx="777240" cy="550730"/>
          </a:xfrm>
          <a:prstGeom prst="rect">
            <a:avLst/>
          </a:prstGeom>
        </p:spPr>
      </p:pic>
      <p:sp>
        <p:nvSpPr>
          <p:cNvPr id="98" name="Oval 97"/>
          <p:cNvSpPr/>
          <p:nvPr/>
        </p:nvSpPr>
        <p:spPr>
          <a:xfrm>
            <a:off x="2870611" y="5283189"/>
            <a:ext cx="45720" cy="45720"/>
          </a:xfrm>
          <a:prstGeom prst="ellipse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3318666" y="4797512"/>
            <a:ext cx="1124712" cy="42062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73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355242" y="4815800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17324E"/>
                </a:solidFill>
                <a:latin typeface="Calibri"/>
              </a:rPr>
              <a:t>Lost 4.6m of ice thickness
in 2024 alone</a:t>
            </a:r>
          </a:p>
        </p:txBody>
      </p:sp>
      <p:pic>
        <p:nvPicPr>
          <p:cNvPr id="101" name="Picture 100" descr="morteratsch-map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4911" y="4762290"/>
            <a:ext cx="777240" cy="550730"/>
          </a:xfrm>
          <a:prstGeom prst="rect">
            <a:avLst/>
          </a:prstGeom>
        </p:spPr>
      </p:pic>
      <p:sp>
        <p:nvSpPr>
          <p:cNvPr id="102" name="Oval 101"/>
          <p:cNvSpPr/>
          <p:nvPr/>
        </p:nvSpPr>
        <p:spPr>
          <a:xfrm>
            <a:off x="7530671" y="5331309"/>
            <a:ext cx="45720" cy="45720"/>
          </a:xfrm>
          <a:prstGeom prst="ellipse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978727" y="4845632"/>
            <a:ext cx="1124712" cy="42062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73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015303" y="4863920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17324E"/>
                </a:solidFill>
                <a:latin typeface="Calibri"/>
              </a:rPr>
              <a:t>Lost ⅔ of its volume
since 1900</a:t>
            </a:r>
          </a:p>
        </p:txBody>
      </p:sp>
      <p:pic>
        <p:nvPicPr>
          <p:cNvPr id="105" name="Picture 104" descr="moiry-map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94920" y="5968846"/>
            <a:ext cx="777240" cy="550730"/>
          </a:xfrm>
          <a:prstGeom prst="rect">
            <a:avLst/>
          </a:prstGeom>
        </p:spPr>
      </p:pic>
      <p:sp>
        <p:nvSpPr>
          <p:cNvPr id="106" name="Oval 105"/>
          <p:cNvSpPr/>
          <p:nvPr/>
        </p:nvSpPr>
        <p:spPr>
          <a:xfrm>
            <a:off x="2060680" y="6537865"/>
            <a:ext cx="45720" cy="45720"/>
          </a:xfrm>
          <a:prstGeom prst="ellipse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2508736" y="6052188"/>
            <a:ext cx="1124712" cy="42062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73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545312" y="6070476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17324E"/>
                </a:solidFill>
                <a:latin typeface="Calibri"/>
              </a:rPr>
              <a:t>One of Switzerland's many
small glaciers — under 5 km²</a:t>
            </a:r>
          </a:p>
        </p:txBody>
      </p:sp>
      <p:pic>
        <p:nvPicPr>
          <p:cNvPr id="109" name="Picture 108" descr="rhone-map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3653" y="3526874"/>
            <a:ext cx="777240" cy="550730"/>
          </a:xfrm>
          <a:prstGeom prst="rect">
            <a:avLst/>
          </a:prstGeom>
        </p:spPr>
      </p:pic>
      <p:sp>
        <p:nvSpPr>
          <p:cNvPr id="110" name="Oval 109"/>
          <p:cNvSpPr/>
          <p:nvPr/>
        </p:nvSpPr>
        <p:spPr>
          <a:xfrm>
            <a:off x="3789413" y="4095893"/>
            <a:ext cx="45720" cy="45720"/>
          </a:xfrm>
          <a:prstGeom prst="ellipse">
            <a:avLst/>
          </a:prstGeom>
          <a:solidFill>
            <a:srgbClr val="F2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2262365" y="3610216"/>
            <a:ext cx="1124712" cy="42062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73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298941" y="3628504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17324E"/>
                </a:solidFill>
                <a:latin typeface="Calibri"/>
              </a:rPr>
              <a:t>Retreated almost 1 km
over the last 20 years</a:t>
            </a:r>
          </a:p>
        </p:txBody>
      </p:sp>
    </p:spTree>
    <p:extLst>
      <p:ext uri="{BB962C8B-B14F-4D97-AF65-F5344CB8AC3E}">
        <p14:creationId xmlns:p14="http://schemas.microsoft.com/office/powerpoint/2010/main" val="317326188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th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4212</TotalTime>
  <Words>213</Words>
  <Application>Microsoft Macintosh PowerPoint</Application>
  <PresentationFormat>A3 (297 x 420 mm)</PresentationFormat>
  <Paragraphs>112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9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12" baseType="lpstr">
      <vt:lpstr>Aptos</vt:lpstr>
      <vt:lpstr>Aptos Display</vt:lpstr>
      <vt:lpstr>Arial</vt:lpstr>
      <vt:lpstr>Graph FF Condensed Black</vt:lpstr>
      <vt:lpstr>Jost Medium</vt:lpstr>
      <vt:lpstr>Jost SemiBold</vt:lpstr>
      <vt:lpstr>Montserrat ExtraBold</vt:lpstr>
      <vt:lpstr>Montserrat SemiBold</vt:lpstr>
      <vt:lpstr>Rockwell</vt:lpstr>
      <vt:lpstr>Kantoorthema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Joost Brinkman</dc:creator>
  <cp:lastModifiedBy>Joost Brinkman</cp:lastModifiedBy>
  <cp:revision>15</cp:revision>
  <cp:lastPrinted>2026-08-08T14:21:04Z</cp:lastPrinted>
  <dcterms:created xsi:type="dcterms:W3CDTF">2026-08-05T05:55:08Z</dcterms:created>
  <dcterms:modified xsi:type="dcterms:W3CDTF">2026-08-08T16:22:23Z</dcterms:modified>
</cp:coreProperties>
</file>