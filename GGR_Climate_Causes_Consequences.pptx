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8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Causes &amp; consequences of climate change — 30x30cm print diagram. Every shape, icon and text block is a native, editable PowerPoint object (built from AutoShapes: cloud, sun, lightning bolt, wave, pentagon, tear, triangle). Colors: rust (causes) / navy (mechanism) / blue (consequences), matching the GGR brand palette used in GGR_Map_Cover.pptx.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96000"/>
            <a:ext cx="97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E"/>
                </a:solidFill>
                <a:latin typeface="Cambria"/>
              </a:rPr>
              <a:t>CAUSES ET CONSÉQUENCES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24E"/>
                </a:solidFill>
                <a:latin typeface="Cambria"/>
              </a:rPr>
              <a:t>DU CHANGEMENT CLIMATIQUE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06000"/>
            <a:ext cx="97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A6078"/>
                </a:solidFill>
                <a:latin typeface="Calibri"/>
              </a:rPr>
              <a:t>Ce que nous provoquons — et ce que cela déclenche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745999"/>
            <a:ext cx="97200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9C4322"/>
                </a:solidFill>
                <a:latin typeface="Calibri"/>
              </a:rPr>
              <a:t>CAUSES</a:t>
            </a:r>
          </a:p>
        </p:txBody>
      </p:sp>
      <p:sp>
        <p:nvSpPr>
          <p:cNvPr id="5" name="Oval 4"/>
          <p:cNvSpPr/>
          <p:nvPr/>
        </p:nvSpPr>
        <p:spPr>
          <a:xfrm>
            <a:off x="1260000" y="1998000"/>
            <a:ext cx="1260000" cy="1260000"/>
          </a:xfrm>
          <a:prstGeom prst="ellipse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ardrop 5"/>
          <p:cNvSpPr/>
          <p:nvPr/>
        </p:nvSpPr>
        <p:spPr>
          <a:xfrm>
            <a:off x="1688399" y="2325600"/>
            <a:ext cx="403200" cy="579600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000" y="3330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Énergies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fossiles</a:t>
            </a:r>
          </a:p>
        </p:txBody>
      </p:sp>
      <p:sp>
        <p:nvSpPr>
          <p:cNvPr id="8" name="Oval 7"/>
          <p:cNvSpPr/>
          <p:nvPr/>
        </p:nvSpPr>
        <p:spPr>
          <a:xfrm>
            <a:off x="3600000" y="1998000"/>
            <a:ext cx="1260000" cy="1260000"/>
          </a:xfrm>
          <a:prstGeom prst="ellipse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64600" y="2527200"/>
            <a:ext cx="730799" cy="27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03911" y="2741399"/>
            <a:ext cx="126000" cy="126000"/>
          </a:xfrm>
          <a:prstGeom prst="ellipse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0087" y="2741399"/>
            <a:ext cx="126000" cy="126000"/>
          </a:xfrm>
          <a:prstGeom prst="ellipse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3000" y="3330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Transport</a:t>
            </a:r>
          </a:p>
        </p:txBody>
      </p:sp>
      <p:sp>
        <p:nvSpPr>
          <p:cNvPr id="13" name="Oval 12"/>
          <p:cNvSpPr/>
          <p:nvPr/>
        </p:nvSpPr>
        <p:spPr>
          <a:xfrm>
            <a:off x="5940000" y="1998000"/>
            <a:ext cx="1260000" cy="1260000"/>
          </a:xfrm>
          <a:prstGeom prst="ellipse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305400" y="2250000"/>
            <a:ext cx="529200" cy="37800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07000" y="2628000"/>
            <a:ext cx="126000" cy="22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520000">
            <a:off x="6166800" y="2527200"/>
            <a:ext cx="806400" cy="94500"/>
          </a:xfrm>
          <a:prstGeom prst="rect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3000" y="3330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Déforestation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280000" y="1998000"/>
            <a:ext cx="1260000" cy="1260000"/>
          </a:xfrm>
          <a:prstGeom prst="ellipse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gular Pentagon 18"/>
          <p:cNvSpPr/>
          <p:nvPr/>
        </p:nvSpPr>
        <p:spPr>
          <a:xfrm>
            <a:off x="8595000" y="2300400"/>
            <a:ext cx="630000" cy="554400"/>
          </a:xfrm>
          <a:prstGeom prst="pent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1800" y="2602800"/>
            <a:ext cx="176400" cy="252000"/>
          </a:xfrm>
          <a:prstGeom prst="rect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3000" y="3330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Élevage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agriculture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790999" y="3618000"/>
            <a:ext cx="198000" cy="198000"/>
          </a:xfrm>
          <a:prstGeom prst="downArrow">
            <a:avLst/>
          </a:prstGeom>
          <a:solidFill>
            <a:srgbClr val="7E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4131000" y="3618000"/>
            <a:ext cx="198000" cy="198000"/>
          </a:xfrm>
          <a:prstGeom prst="downArrow">
            <a:avLst/>
          </a:prstGeom>
          <a:solidFill>
            <a:srgbClr val="7E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6471000" y="3618000"/>
            <a:ext cx="198000" cy="198000"/>
          </a:xfrm>
          <a:prstGeom prst="downArrow">
            <a:avLst/>
          </a:prstGeom>
          <a:solidFill>
            <a:srgbClr val="7E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8811000" y="3618000"/>
            <a:ext cx="198000" cy="198000"/>
          </a:xfrm>
          <a:prstGeom prst="downArrow">
            <a:avLst/>
          </a:prstGeom>
          <a:solidFill>
            <a:srgbClr val="7E3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0000" y="3906000"/>
            <a:ext cx="9360000" cy="360000"/>
          </a:xfrm>
          <a:prstGeom prst="roundRect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906000"/>
            <a:ext cx="9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50">
                <a:solidFill>
                  <a:srgbClr val="FFFFFF"/>
                </a:solidFill>
                <a:latin typeface="Cambria"/>
              </a:rPr>
              <a:t>ÉMISSIONS DE GAZ À EFFET DE SERRE  ↑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274000" y="4356000"/>
            <a:ext cx="251999" cy="216000"/>
          </a:xfrm>
          <a:prstGeom prst="downArrow">
            <a:avLst/>
          </a:prstGeom>
          <a:solidFill>
            <a:srgbClr val="4A6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92000" y="4662000"/>
            <a:ext cx="2015999" cy="2015999"/>
          </a:xfrm>
          <a:prstGeom prst="ellipse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un 29"/>
          <p:cNvSpPr/>
          <p:nvPr/>
        </p:nvSpPr>
        <p:spPr>
          <a:xfrm>
            <a:off x="5077440" y="4964400"/>
            <a:ext cx="645119" cy="645119"/>
          </a:xfrm>
          <a:prstGeom prst="sun">
            <a:avLst/>
          </a:prstGeom>
          <a:solidFill>
            <a:srgbClr val="E8B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2000" y="5710320"/>
            <a:ext cx="2015999" cy="52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+1,5 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2000" y="6194160"/>
            <a:ext cx="2015999" cy="403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FDCE8"/>
                </a:solidFill>
                <a:latin typeface="Calibri"/>
              </a:rPr>
              <a:t>et en hausse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6786000"/>
            <a:ext cx="972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6078"/>
                </a:solidFill>
                <a:latin typeface="Calibri"/>
              </a:rPr>
              <a:t>Effet de serre renforcé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4A6078"/>
                </a:solidFill>
                <a:latin typeface="Calibri"/>
              </a:rPr>
              <a:t>la chaleur reste piégée dans l'atmosphère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274000" y="7128000"/>
            <a:ext cx="251999" cy="216000"/>
          </a:xfrm>
          <a:prstGeom prst="downArrow">
            <a:avLst/>
          </a:prstGeom>
          <a:solidFill>
            <a:srgbClr val="4A6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0000" y="7434000"/>
            <a:ext cx="9360000" cy="360000"/>
          </a:xfrm>
          <a:prstGeom prst="roundRect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000" y="7434000"/>
            <a:ext cx="9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 spc="50">
                <a:solidFill>
                  <a:srgbClr val="FFFFFF"/>
                </a:solidFill>
                <a:latin typeface="Cambria"/>
              </a:rPr>
              <a:t>LE CLIMAT SE DÉRÈGLE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7920000"/>
            <a:ext cx="9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 spc="220">
                <a:solidFill>
                  <a:srgbClr val="235782"/>
                </a:solidFill>
                <a:latin typeface="Calibri"/>
              </a:rPr>
              <a:t>CONSÉQUENCES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790999" y="8154000"/>
            <a:ext cx="198000" cy="198000"/>
          </a:xfrm>
          <a:prstGeom prst="downArrow">
            <a:avLst/>
          </a:prstGeom>
          <a:solidFill>
            <a:srgbClr val="235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4131000" y="8154000"/>
            <a:ext cx="198000" cy="198000"/>
          </a:xfrm>
          <a:prstGeom prst="downArrow">
            <a:avLst/>
          </a:prstGeom>
          <a:solidFill>
            <a:srgbClr val="235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6471000" y="8154000"/>
            <a:ext cx="198000" cy="198000"/>
          </a:xfrm>
          <a:prstGeom prst="downArrow">
            <a:avLst/>
          </a:prstGeom>
          <a:solidFill>
            <a:srgbClr val="235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8811000" y="8154000"/>
            <a:ext cx="198000" cy="198000"/>
          </a:xfrm>
          <a:prstGeom prst="downArrow">
            <a:avLst/>
          </a:prstGeom>
          <a:solidFill>
            <a:srgbClr val="235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60000" y="8442000"/>
            <a:ext cx="1260000" cy="1260000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1575000" y="8744400"/>
            <a:ext cx="630000" cy="42840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ardrop 43"/>
          <p:cNvSpPr/>
          <p:nvPr/>
        </p:nvSpPr>
        <p:spPr>
          <a:xfrm>
            <a:off x="1978200" y="9112320"/>
            <a:ext cx="126000" cy="201600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000" y="9774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Fonte 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glaciers</a:t>
            </a:r>
          </a:p>
        </p:txBody>
      </p:sp>
      <p:sp>
        <p:nvSpPr>
          <p:cNvPr id="46" name="Oval 45"/>
          <p:cNvSpPr/>
          <p:nvPr/>
        </p:nvSpPr>
        <p:spPr>
          <a:xfrm>
            <a:off x="3600000" y="8442000"/>
            <a:ext cx="1260000" cy="1260000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ave 46"/>
          <p:cNvSpPr/>
          <p:nvPr/>
        </p:nvSpPr>
        <p:spPr>
          <a:xfrm>
            <a:off x="3851999" y="8870400"/>
            <a:ext cx="756000" cy="201600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Wave 47"/>
          <p:cNvSpPr/>
          <p:nvPr/>
        </p:nvSpPr>
        <p:spPr>
          <a:xfrm>
            <a:off x="3927600" y="9147600"/>
            <a:ext cx="604800" cy="201600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33000" y="9774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Montée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des eaux</a:t>
            </a:r>
          </a:p>
        </p:txBody>
      </p:sp>
      <p:sp>
        <p:nvSpPr>
          <p:cNvPr id="50" name="Oval 49"/>
          <p:cNvSpPr/>
          <p:nvPr/>
        </p:nvSpPr>
        <p:spPr>
          <a:xfrm>
            <a:off x="5940000" y="8442000"/>
            <a:ext cx="1260000" cy="1260000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loud 50"/>
          <p:cNvSpPr/>
          <p:nvPr/>
        </p:nvSpPr>
        <p:spPr>
          <a:xfrm>
            <a:off x="6217200" y="8694000"/>
            <a:ext cx="705600" cy="352800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ightning Bolt 51"/>
          <p:cNvSpPr/>
          <p:nvPr/>
        </p:nvSpPr>
        <p:spPr>
          <a:xfrm>
            <a:off x="6469200" y="8888040"/>
            <a:ext cx="201600" cy="378000"/>
          </a:xfrm>
          <a:prstGeom prst="lightningBolt">
            <a:avLst/>
          </a:prstGeom>
          <a:solidFill>
            <a:srgbClr val="9C4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3000" y="9774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Événements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extrêmes</a:t>
            </a:r>
          </a:p>
        </p:txBody>
      </p:sp>
      <p:sp>
        <p:nvSpPr>
          <p:cNvPr id="54" name="Oval 53"/>
          <p:cNvSpPr/>
          <p:nvPr/>
        </p:nvSpPr>
        <p:spPr>
          <a:xfrm>
            <a:off x="8280000" y="8442000"/>
            <a:ext cx="1260000" cy="1260000"/>
          </a:xfrm>
          <a:prstGeom prst="ellipse">
            <a:avLst/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ardrop 54"/>
          <p:cNvSpPr/>
          <p:nvPr/>
        </p:nvSpPr>
        <p:spPr>
          <a:xfrm rot="10800000">
            <a:off x="8695800" y="8744400"/>
            <a:ext cx="428400" cy="630000"/>
          </a:xfrm>
          <a:prstGeom prst="teardrop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13000" y="9774000"/>
            <a:ext cx="239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Sécheresses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324E"/>
                </a:solidFill>
                <a:latin typeface="Calibri"/>
              </a:rPr>
              <a:t>incendies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10188000"/>
            <a:ext cx="9360000" cy="10800"/>
          </a:xfrm>
          <a:prstGeom prst="rect">
            <a:avLst/>
          </a:prstGeom>
          <a:solidFill>
            <a:srgbClr val="C9C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0000" y="10242000"/>
            <a:ext cx="936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A6078"/>
                </a:solidFill>
                <a:latin typeface="Calibri"/>
              </a:rPr>
              <a:t>Source : GIEC (IPCC) — Glorious Glacier Ride · Cycling4Climate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